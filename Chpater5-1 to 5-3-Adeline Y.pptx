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94681"/>
  </p:normalViewPr>
  <p:slideViewPr>
    <p:cSldViewPr snapToGrid="0">
      <p:cViewPr varScale="1">
        <p:scale>
          <a:sx n="85" d="100"/>
          <a:sy n="85" d="100"/>
        </p:scale>
        <p:origin x="176" y="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B771F-9946-4B44-8BF4-912AD9FCA02E}" type="datetimeFigureOut">
              <a:rPr lang="en-US" smtClean="0"/>
              <a:t>9/27/25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9679F1-FB5D-3149-B687-E0D62CE3DB17}" type="slidenum">
              <a:rPr lang="en-US" smtClean="0"/>
              <a:t>‹#›</a:t>
            </a:fld>
            <a:endParaRPr lang="en-US"/>
          </a:p>
        </p:txBody>
      </p:sp>
    </p:spTree>
    <p:extLst>
      <p:ext uri="{BB962C8B-B14F-4D97-AF65-F5344CB8AC3E}">
        <p14:creationId xmlns:p14="http://schemas.microsoft.com/office/powerpoint/2010/main" val="2838373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marginal product (MP)</a:t>
            </a:r>
            <a:r>
              <a:rPr lang="en-US" dirty="0"/>
              <a:t> of an input (like labor or capital) is the </a:t>
            </a:r>
            <a:r>
              <a:rPr lang="en-US" b="1" dirty="0"/>
              <a:t>additional output produced when you add one more unit of that input, while keeping all other inputs constant</a:t>
            </a:r>
            <a:r>
              <a:rPr lang="en-US" dirty="0"/>
              <a:t>.</a:t>
            </a:r>
          </a:p>
        </p:txBody>
      </p:sp>
      <p:sp>
        <p:nvSpPr>
          <p:cNvPr id="4" name="Slide Number Placeholder 3"/>
          <p:cNvSpPr>
            <a:spLocks noGrp="1"/>
          </p:cNvSpPr>
          <p:nvPr>
            <p:ph type="sldNum" sz="quarter" idx="5"/>
          </p:nvPr>
        </p:nvSpPr>
        <p:spPr/>
        <p:txBody>
          <a:bodyPr/>
          <a:lstStyle/>
          <a:p>
            <a:fld id="{7C9679F1-FB5D-3149-B687-E0D62CE3DB17}" type="slidenum">
              <a:rPr lang="en-US" smtClean="0"/>
              <a:t>6</a:t>
            </a:fld>
            <a:endParaRPr lang="en-US"/>
          </a:p>
        </p:txBody>
      </p:sp>
    </p:spTree>
    <p:extLst>
      <p:ext uri="{BB962C8B-B14F-4D97-AF65-F5344CB8AC3E}">
        <p14:creationId xmlns:p14="http://schemas.microsoft.com/office/powerpoint/2010/main" val="116712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9679F1-FB5D-3149-B687-E0D62CE3DB17}" type="slidenum">
              <a:rPr lang="en-US" smtClean="0"/>
              <a:t>7</a:t>
            </a:fld>
            <a:endParaRPr lang="en-US"/>
          </a:p>
        </p:txBody>
      </p:sp>
    </p:spTree>
    <p:extLst>
      <p:ext uri="{BB962C8B-B14F-4D97-AF65-F5344CB8AC3E}">
        <p14:creationId xmlns:p14="http://schemas.microsoft.com/office/powerpoint/2010/main" val="967386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If the wage differential exceeds this equilibrium level, more persons are willing to work in risky</a:t>
            </a:r>
          </a:p>
          <a:p>
            <a:r>
              <a:rPr lang="en-US" sz="1200" b="0" i="0" kern="1200" dirty="0">
                <a:solidFill>
                  <a:schemeClr val="tx1"/>
                </a:solidFill>
                <a:effectLst/>
                <a:latin typeface="+mn-lt"/>
                <a:ea typeface="+mn-ea"/>
                <a:cs typeface="+mn-cs"/>
              </a:rPr>
              <a:t>firms than are being demanded, and the wage differential would fall. But if the wage differential fell</a:t>
            </a:r>
          </a:p>
          <a:p>
            <a:r>
              <a:rPr lang="en-US" sz="1200" b="0" i="0" kern="1200" dirty="0">
                <a:solidFill>
                  <a:schemeClr val="tx1"/>
                </a:solidFill>
                <a:effectLst/>
                <a:latin typeface="+mn-lt"/>
                <a:ea typeface="+mn-ea"/>
                <a:cs typeface="+mn-cs"/>
              </a:rPr>
              <a:t>below the equilibrium level, too few workers are willing to work in risky jobs relative to the demand,</a:t>
            </a:r>
          </a:p>
          <a:p>
            <a:r>
              <a:rPr lang="en-US" sz="1200" b="0" i="0" kern="1200" dirty="0">
                <a:solidFill>
                  <a:schemeClr val="tx1"/>
                </a:solidFill>
                <a:effectLst/>
                <a:latin typeface="+mn-lt"/>
                <a:ea typeface="+mn-ea"/>
                <a:cs typeface="+mn-cs"/>
              </a:rPr>
              <a:t>and the wage differential would rise.</a:t>
            </a:r>
          </a:p>
          <a:p>
            <a:endParaRPr lang="en-US" dirty="0"/>
          </a:p>
        </p:txBody>
      </p:sp>
      <p:sp>
        <p:nvSpPr>
          <p:cNvPr id="4" name="Slide Number Placeholder 3"/>
          <p:cNvSpPr>
            <a:spLocks noGrp="1"/>
          </p:cNvSpPr>
          <p:nvPr>
            <p:ph type="sldNum" sz="quarter" idx="5"/>
          </p:nvPr>
        </p:nvSpPr>
        <p:spPr/>
        <p:txBody>
          <a:bodyPr/>
          <a:lstStyle/>
          <a:p>
            <a:fld id="{7C9679F1-FB5D-3149-B687-E0D62CE3DB17}" type="slidenum">
              <a:rPr lang="en-US" smtClean="0"/>
              <a:t>8</a:t>
            </a:fld>
            <a:endParaRPr lang="en-US"/>
          </a:p>
        </p:txBody>
      </p:sp>
    </p:spTree>
    <p:extLst>
      <p:ext uri="{BB962C8B-B14F-4D97-AF65-F5344CB8AC3E}">
        <p14:creationId xmlns:p14="http://schemas.microsoft.com/office/powerpoint/2010/main" val="1275124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9/27/25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9/27/25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9/27/25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65DAA-962D-5ED3-F259-DF52D7977C9C}"/>
              </a:ext>
            </a:extLst>
          </p:cNvPr>
          <p:cNvSpPr>
            <a:spLocks noGrp="1"/>
          </p:cNvSpPr>
          <p:nvPr>
            <p:ph type="ctrTitle"/>
          </p:nvPr>
        </p:nvSpPr>
        <p:spPr>
          <a:xfrm>
            <a:off x="-478169" y="1984016"/>
            <a:ext cx="9752172" cy="1646302"/>
          </a:xfrm>
        </p:spPr>
        <p:txBody>
          <a:bodyPr/>
          <a:lstStyle/>
          <a:p>
            <a:r>
              <a:rPr lang="en-US" sz="3600" b="1" dirty="0"/>
              <a:t>Chapter 5-1 to 5-3   </a:t>
            </a:r>
            <a:br>
              <a:rPr lang="en-US" sz="3600" b="1" dirty="0"/>
            </a:br>
            <a:r>
              <a:rPr lang="en-US" sz="3600" dirty="0"/>
              <a:t>Compensating Wage Differentials</a:t>
            </a:r>
          </a:p>
        </p:txBody>
      </p:sp>
      <p:sp>
        <p:nvSpPr>
          <p:cNvPr id="3" name="Subtitle 2">
            <a:extLst>
              <a:ext uri="{FF2B5EF4-FFF2-40B4-BE49-F238E27FC236}">
                <a16:creationId xmlns:a16="http://schemas.microsoft.com/office/drawing/2014/main" id="{DAD9C483-D8E6-3D78-BF80-0CE5EAF6471C}"/>
              </a:ext>
            </a:extLst>
          </p:cNvPr>
          <p:cNvSpPr>
            <a:spLocks noGrp="1"/>
          </p:cNvSpPr>
          <p:nvPr>
            <p:ph type="subTitle" idx="1"/>
          </p:nvPr>
        </p:nvSpPr>
        <p:spPr/>
        <p:txBody>
          <a:bodyPr/>
          <a:lstStyle/>
          <a:p>
            <a:r>
              <a:rPr lang="en-US" dirty="0"/>
              <a:t>Presenter: Adeline(Haining)Yuan</a:t>
            </a:r>
          </a:p>
        </p:txBody>
      </p:sp>
      <p:sp>
        <p:nvSpPr>
          <p:cNvPr id="4" name="TextBox 3">
            <a:extLst>
              <a:ext uri="{FF2B5EF4-FFF2-40B4-BE49-F238E27FC236}">
                <a16:creationId xmlns:a16="http://schemas.microsoft.com/office/drawing/2014/main" id="{0EAE05A7-3C4F-79F3-C45A-22B073CCA71A}"/>
              </a:ext>
            </a:extLst>
          </p:cNvPr>
          <p:cNvSpPr txBox="1"/>
          <p:nvPr/>
        </p:nvSpPr>
        <p:spPr>
          <a:xfrm>
            <a:off x="2787267" y="5147732"/>
            <a:ext cx="7105880" cy="1292662"/>
          </a:xfrm>
          <a:prstGeom prst="rect">
            <a:avLst/>
          </a:prstGeom>
          <a:noFill/>
        </p:spPr>
        <p:txBody>
          <a:bodyPr wrap="square" rtlCol="0">
            <a:spAutoFit/>
          </a:bodyPr>
          <a:lstStyle/>
          <a:p>
            <a:r>
              <a:rPr lang="en-US" sz="2000" b="1" dirty="0"/>
              <a:t>“It’s just a job. Grass grows, birds fly, waves pound the sand.  I beat people up.”</a:t>
            </a:r>
          </a:p>
          <a:p>
            <a:r>
              <a:rPr lang="en-US" sz="2000" b="1" dirty="0"/>
              <a:t>                                    —Muhammad Ali</a:t>
            </a:r>
          </a:p>
          <a:p>
            <a:endParaRPr lang="en-US" dirty="0"/>
          </a:p>
        </p:txBody>
      </p:sp>
    </p:spTree>
    <p:extLst>
      <p:ext uri="{BB962C8B-B14F-4D97-AF65-F5344CB8AC3E}">
        <p14:creationId xmlns:p14="http://schemas.microsoft.com/office/powerpoint/2010/main" val="427576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BBB0C-0800-73C3-0082-5B8C4608985F}"/>
              </a:ext>
            </a:extLst>
          </p:cNvPr>
          <p:cNvSpPr>
            <a:spLocks noGrp="1"/>
          </p:cNvSpPr>
          <p:nvPr>
            <p:ph type="title"/>
          </p:nvPr>
        </p:nvSpPr>
        <p:spPr/>
        <p:txBody>
          <a:bodyPr>
            <a:normAutofit/>
          </a:bodyPr>
          <a:lstStyle/>
          <a:p>
            <a:r>
              <a:rPr lang="en-US" dirty="0"/>
              <a:t>5-1  The Market for Risky Jobs</a:t>
            </a:r>
            <a:br>
              <a:rPr lang="en-US" dirty="0"/>
            </a:br>
            <a:endParaRPr lang="en-US" dirty="0"/>
          </a:p>
        </p:txBody>
      </p:sp>
      <p:sp>
        <p:nvSpPr>
          <p:cNvPr id="3" name="Content Placeholder 2">
            <a:extLst>
              <a:ext uri="{FF2B5EF4-FFF2-40B4-BE49-F238E27FC236}">
                <a16:creationId xmlns:a16="http://schemas.microsoft.com/office/drawing/2014/main" id="{4B825A87-48D8-4496-280C-22905D8BC1A9}"/>
              </a:ext>
            </a:extLst>
          </p:cNvPr>
          <p:cNvSpPr>
            <a:spLocks noGrp="1"/>
          </p:cNvSpPr>
          <p:nvPr>
            <p:ph idx="1"/>
          </p:nvPr>
        </p:nvSpPr>
        <p:spPr>
          <a:xfrm>
            <a:off x="572403" y="1488613"/>
            <a:ext cx="8361735" cy="4342561"/>
          </a:xfrm>
        </p:spPr>
        <p:txBody>
          <a:bodyPr>
            <a:normAutofit fontScale="92500" lnSpcReduction="20000"/>
          </a:bodyPr>
          <a:lstStyle/>
          <a:p>
            <a:r>
              <a:rPr lang="en-US" sz="2800" b="1" dirty="0"/>
              <a:t>Suppose the worker has complete information about the risk associated with every job</a:t>
            </a:r>
          </a:p>
          <a:p>
            <a:endParaRPr lang="en-US" sz="2800" b="1" dirty="0"/>
          </a:p>
          <a:p>
            <a:r>
              <a:rPr lang="en-US" sz="2800" b="1" dirty="0"/>
              <a:t>There are only two types of jobs, and they are differentiated by the probability of getting injured on the job, denoted by </a:t>
            </a:r>
            <a:r>
              <a:rPr lang="el-GR" sz="2800" b="1" dirty="0"/>
              <a:t>ρ. </a:t>
            </a:r>
            <a:endParaRPr lang="en-US" sz="2800" b="1" dirty="0"/>
          </a:p>
          <a:p>
            <a:endParaRPr lang="en-US" sz="2800" b="1" dirty="0"/>
          </a:p>
          <a:p>
            <a:r>
              <a:rPr lang="en-US" sz="2800" b="1" dirty="0"/>
              <a:t>Some jobs offer a completely safe environment, and the probability of injury is equal to 0. Other jobs have an inherently risky environment, and the probability of injury equals 1.</a:t>
            </a:r>
          </a:p>
          <a:p>
            <a:endParaRPr lang="en-US" dirty="0"/>
          </a:p>
        </p:txBody>
      </p:sp>
    </p:spTree>
    <p:extLst>
      <p:ext uri="{BB962C8B-B14F-4D97-AF65-F5344CB8AC3E}">
        <p14:creationId xmlns:p14="http://schemas.microsoft.com/office/powerpoint/2010/main" val="965050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615665-C6B6-5608-C1A5-5199FE47B574}"/>
              </a:ext>
            </a:extLst>
          </p:cNvPr>
          <p:cNvSpPr>
            <a:spLocks noGrp="1"/>
          </p:cNvSpPr>
          <p:nvPr>
            <p:ph idx="1"/>
          </p:nvPr>
        </p:nvSpPr>
        <p:spPr>
          <a:xfrm>
            <a:off x="685167" y="929391"/>
            <a:ext cx="5080281" cy="5396458"/>
          </a:xfrm>
        </p:spPr>
        <p:txBody>
          <a:bodyPr>
            <a:normAutofit/>
          </a:bodyPr>
          <a:lstStyle/>
          <a:p>
            <a:r>
              <a:rPr lang="en-US" b="1" dirty="0"/>
              <a:t>Workers care about the wage (w) they earn on the job. </a:t>
            </a:r>
          </a:p>
          <a:p>
            <a:pPr marL="0" indent="0">
              <a:buNone/>
            </a:pPr>
            <a:r>
              <a:rPr lang="en-US" b="1" dirty="0"/>
              <a:t>                         Utility =F(w,</a:t>
            </a:r>
            <a:r>
              <a:rPr lang="el-GR" b="1" dirty="0"/>
              <a:t> ρ</a:t>
            </a:r>
            <a:r>
              <a:rPr lang="en-US" b="1" dirty="0"/>
              <a:t>)</a:t>
            </a:r>
          </a:p>
          <a:p>
            <a:pPr marL="0" indent="0">
              <a:buNone/>
            </a:pPr>
            <a:endParaRPr lang="en-US" b="1" dirty="0"/>
          </a:p>
          <a:p>
            <a:r>
              <a:rPr lang="en-US" b="1" dirty="0"/>
              <a:t>Indifference Curves between: </a:t>
            </a:r>
          </a:p>
          <a:p>
            <a:pPr marL="0" indent="0">
              <a:buNone/>
            </a:pPr>
            <a:r>
              <a:rPr lang="en-US" b="1" dirty="0"/>
              <a:t>    </a:t>
            </a:r>
            <a:r>
              <a:rPr lang="en-US" dirty="0"/>
              <a:t>the Wage and the Probability of Injury</a:t>
            </a:r>
          </a:p>
          <a:p>
            <a:pPr marL="0" indent="0">
              <a:buNone/>
            </a:pPr>
            <a:endParaRPr lang="en-US" dirty="0"/>
          </a:p>
          <a:p>
            <a:pPr marL="0" indent="0">
              <a:buNone/>
            </a:pPr>
            <a:r>
              <a:rPr lang="en-US" dirty="0"/>
              <a:t>The worker earns a wage of W0 and gets U0 utils if she chooses the safe job. She would prefer the safe job if the risky job paid a wage ofW′1, but would prefer the risky job if that job paid a wage of W′′1. The worker is indifferent if the risky job pays ˆw1.The </a:t>
            </a:r>
            <a:r>
              <a:rPr lang="en-US" dirty="0" err="1"/>
              <a:t>worker’sreservation</a:t>
            </a:r>
            <a:r>
              <a:rPr lang="en-US" dirty="0"/>
              <a:t> price is </a:t>
            </a:r>
            <a:r>
              <a:rPr lang="el-GR" dirty="0"/>
              <a:t>Δˆ</a:t>
            </a:r>
            <a:r>
              <a:rPr lang="en-US" dirty="0"/>
              <a:t>w=ˆw1−w0.</a:t>
            </a:r>
            <a:endParaRPr lang="en-US" b="1" dirty="0"/>
          </a:p>
          <a:p>
            <a:pPr marL="0" indent="0">
              <a:buNone/>
            </a:pPr>
            <a:endParaRPr lang="en-US" b="1" dirty="0"/>
          </a:p>
        </p:txBody>
      </p:sp>
      <p:pic>
        <p:nvPicPr>
          <p:cNvPr id="5" name="Picture 4" descr="A graph of a wage and injury&#10;&#10;AI-generated content may be incorrect.">
            <a:extLst>
              <a:ext uri="{FF2B5EF4-FFF2-40B4-BE49-F238E27FC236}">
                <a16:creationId xmlns:a16="http://schemas.microsoft.com/office/drawing/2014/main" id="{CDA6428A-43C7-49F8-4D52-09A1449409CC}"/>
              </a:ext>
            </a:extLst>
          </p:cNvPr>
          <p:cNvPicPr>
            <a:picLocks noChangeAspect="1"/>
          </p:cNvPicPr>
          <p:nvPr/>
        </p:nvPicPr>
        <p:blipFill>
          <a:blip r:embed="rId2"/>
          <a:stretch>
            <a:fillRect/>
          </a:stretch>
        </p:blipFill>
        <p:spPr>
          <a:xfrm>
            <a:off x="6426553" y="809470"/>
            <a:ext cx="5330116" cy="5516380"/>
          </a:xfrm>
          <a:prstGeom prst="rect">
            <a:avLst/>
          </a:prstGeom>
        </p:spPr>
      </p:pic>
    </p:spTree>
    <p:extLst>
      <p:ext uri="{BB962C8B-B14F-4D97-AF65-F5344CB8AC3E}">
        <p14:creationId xmlns:p14="http://schemas.microsoft.com/office/powerpoint/2010/main" val="2868238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barn(inVertical)">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B4322635-3309-C185-72AA-C95C59C81D32}"/>
              </a:ext>
            </a:extLst>
          </p:cNvPr>
          <p:cNvSpPr>
            <a:spLocks noGrp="1"/>
          </p:cNvSpPr>
          <p:nvPr>
            <p:ph type="title"/>
          </p:nvPr>
        </p:nvSpPr>
        <p:spPr>
          <a:xfrm>
            <a:off x="673754" y="643467"/>
            <a:ext cx="4203045" cy="1375608"/>
          </a:xfrm>
        </p:spPr>
        <p:txBody>
          <a:bodyPr anchor="ctr">
            <a:normAutofit/>
          </a:bodyPr>
          <a:lstStyle/>
          <a:p>
            <a:pPr marL="571500" indent="-571500">
              <a:lnSpc>
                <a:spcPct val="90000"/>
              </a:lnSpc>
              <a:buFont typeface="Wingdings" pitchFamily="2" charset="2"/>
              <a:buChar char="Ø"/>
            </a:pPr>
            <a:r>
              <a:rPr lang="en-US" sz="3100" dirty="0">
                <a:solidFill>
                  <a:schemeClr val="bg1"/>
                </a:solidFill>
              </a:rPr>
              <a:t>The Supply of Labor to Risky Jobs</a:t>
            </a:r>
          </a:p>
        </p:txBody>
      </p:sp>
      <p:sp>
        <p:nvSpPr>
          <p:cNvPr id="3" name="Content Placeholder 2">
            <a:extLst>
              <a:ext uri="{FF2B5EF4-FFF2-40B4-BE49-F238E27FC236}">
                <a16:creationId xmlns:a16="http://schemas.microsoft.com/office/drawing/2014/main" id="{6C288680-017A-DBF1-8C7F-30861B00440C}"/>
              </a:ext>
            </a:extLst>
          </p:cNvPr>
          <p:cNvSpPr>
            <a:spLocks noGrp="1"/>
          </p:cNvSpPr>
          <p:nvPr>
            <p:ph idx="1"/>
          </p:nvPr>
        </p:nvSpPr>
        <p:spPr>
          <a:xfrm>
            <a:off x="673754" y="2160589"/>
            <a:ext cx="4203045" cy="3790505"/>
          </a:xfrm>
        </p:spPr>
        <p:txBody>
          <a:bodyPr>
            <a:normAutofit fontScale="25000" lnSpcReduction="20000"/>
          </a:bodyPr>
          <a:lstStyle/>
          <a:p>
            <a:r>
              <a:rPr lang="en-US" sz="5900" b="1" dirty="0">
                <a:solidFill>
                  <a:schemeClr val="bg1"/>
                </a:solidFill>
              </a:rPr>
              <a:t>how many workers are willing to offer their services to the risky job as a function of the wage differential between the risky job and the safe job.</a:t>
            </a:r>
          </a:p>
          <a:p>
            <a:pPr marL="0" indent="0">
              <a:buNone/>
            </a:pPr>
            <a:endParaRPr lang="en-US" sz="5900" b="1" dirty="0">
              <a:solidFill>
                <a:schemeClr val="bg1"/>
              </a:solidFill>
            </a:endParaRPr>
          </a:p>
          <a:p>
            <a:r>
              <a:rPr lang="en-US" sz="5900" b="1" dirty="0">
                <a:solidFill>
                  <a:schemeClr val="bg1"/>
                </a:solidFill>
              </a:rPr>
              <a:t>Assumed that all workers dislike risk, no worker would be willing to work at the risky job when the wage differential is zero (or negative). </a:t>
            </a:r>
          </a:p>
          <a:p>
            <a:endParaRPr lang="en-US" sz="5900" b="1" dirty="0">
              <a:solidFill>
                <a:schemeClr val="bg1"/>
              </a:solidFill>
            </a:endParaRPr>
          </a:p>
          <a:p>
            <a:r>
              <a:rPr lang="en-US" sz="5900" b="1" dirty="0">
                <a:solidFill>
                  <a:schemeClr val="bg1"/>
                </a:solidFill>
              </a:rPr>
              <a:t>As the wage differential between the risky job and the safe job keeps increasing, more and more workers are bribed into the risky occupation, and the number of workers who choose to work in risky jobs keeps rising. The supply curve to the risky job, therefore, is upward sloping.</a:t>
            </a:r>
          </a:p>
          <a:p>
            <a:endParaRPr lang="en-US" sz="2800" b="1" dirty="0">
              <a:solidFill>
                <a:schemeClr val="bg1"/>
              </a:solidFill>
            </a:endParaRPr>
          </a:p>
          <a:p>
            <a:endParaRPr lang="en-US" dirty="0">
              <a:solidFill>
                <a:schemeClr val="bg1"/>
              </a:solidFill>
            </a:endParaRPr>
          </a:p>
        </p:txBody>
      </p:sp>
      <p:pic>
        <p:nvPicPr>
          <p:cNvPr id="5" name="Picture 4" descr="A graph of workers in a company&#10;&#10;AI-generated content may be incorrect.">
            <a:extLst>
              <a:ext uri="{FF2B5EF4-FFF2-40B4-BE49-F238E27FC236}">
                <a16:creationId xmlns:a16="http://schemas.microsoft.com/office/drawing/2014/main" id="{4EA9950E-A2E0-5241-03C6-35E41F1DFF77}"/>
              </a:ext>
            </a:extLst>
          </p:cNvPr>
          <p:cNvPicPr>
            <a:picLocks noChangeAspect="1"/>
          </p:cNvPicPr>
          <p:nvPr/>
        </p:nvPicPr>
        <p:blipFill>
          <a:blip r:embed="rId2"/>
          <a:stretch>
            <a:fillRect/>
          </a:stretch>
        </p:blipFill>
        <p:spPr>
          <a:xfrm>
            <a:off x="5765878" y="1140419"/>
            <a:ext cx="5940811" cy="4960577"/>
          </a:xfrm>
          <a:prstGeom prst="rect">
            <a:avLst/>
          </a:prstGeom>
        </p:spPr>
      </p:pic>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589716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44CAD-477F-A4B6-CF34-414150D1B4F6}"/>
              </a:ext>
            </a:extLst>
          </p:cNvPr>
          <p:cNvSpPr>
            <a:spLocks noGrp="1"/>
          </p:cNvSpPr>
          <p:nvPr>
            <p:ph type="title"/>
          </p:nvPr>
        </p:nvSpPr>
        <p:spPr/>
        <p:txBody>
          <a:bodyPr/>
          <a:lstStyle/>
          <a:p>
            <a:pPr marL="571500" indent="-571500">
              <a:buFont typeface="Wingdings" pitchFamily="2" charset="2"/>
              <a:buChar char="Ø"/>
            </a:pPr>
            <a:r>
              <a:rPr lang="en-US" dirty="0">
                <a:solidFill>
                  <a:schemeClr val="tx2"/>
                </a:solidFill>
              </a:rPr>
              <a:t>The Demand of Labor to Risky Jobs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8E8751-C4E4-C57A-E640-9B8FEDDD95CD}"/>
                  </a:ext>
                </a:extLst>
              </p:cNvPr>
              <p:cNvSpPr>
                <a:spLocks noGrp="1"/>
              </p:cNvSpPr>
              <p:nvPr>
                <p:ph idx="1"/>
              </p:nvPr>
            </p:nvSpPr>
            <p:spPr>
              <a:xfrm>
                <a:off x="932165" y="1290918"/>
                <a:ext cx="8596669" cy="4485939"/>
              </a:xfrm>
            </p:spPr>
            <p:txBody>
              <a:bodyPr>
                <a:noAutofit/>
              </a:bodyPr>
              <a:lstStyle/>
              <a:p>
                <a:r>
                  <a:rPr lang="en-US" dirty="0"/>
                  <a:t>The firm’s choice depends on which is more profitable</a:t>
                </a:r>
              </a:p>
              <a:p>
                <a:r>
                  <a:rPr lang="en-US" dirty="0"/>
                  <a:t>suppose the firm is going to hire E* workers regardless of which environment it chooses. </a:t>
                </a:r>
              </a:p>
              <a:p>
                <a:r>
                  <a:rPr lang="en-US" dirty="0"/>
                  <a:t>The parameter </a:t>
                </a:r>
                <a:r>
                  <a:rPr lang="el-GR" dirty="0"/>
                  <a:t>α</a:t>
                </a:r>
                <a:r>
                  <a:rPr lang="en-US" dirty="0"/>
                  <a:t>0 gives the marginal product of labor in a safe environment, the increase in output when the firm hires one more worker. </a:t>
                </a:r>
              </a:p>
              <a:p>
                <a:endParaRPr lang="en-US" dirty="0"/>
              </a:p>
              <a:p>
                <a:r>
                  <a:rPr lang="en-US" dirty="0"/>
                  <a:t>If the firm chooses to offer a safe work environment, the production function</a:t>
                </a:r>
              </a:p>
              <a:p>
                <a:pPr marL="0" indent="0">
                  <a:buNone/>
                </a:pPr>
                <a:r>
                  <a:rPr lang="en-US" dirty="0"/>
                  <a:t>                                             q0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𝐸</m:t>
                    </m:r>
                  </m:oMath>
                </a14:m>
                <a:r>
                  <a:rPr lang="en-US" dirty="0"/>
                  <a:t>*</a:t>
                </a:r>
              </a:p>
              <a:p>
                <a:pPr marL="0" indent="0">
                  <a:buNone/>
                </a:pPr>
                <a:r>
                  <a:rPr lang="en-US" dirty="0"/>
                  <a:t>     The value of marginal product of labor in a safe firm equals p×</a:t>
                </a:r>
                <a:r>
                  <a:rPr lang="el-GR" dirty="0"/>
                  <a:t>α0</a:t>
                </a:r>
                <a:r>
                  <a:rPr lang="en-US" dirty="0"/>
                  <a:t> (p is the price of the output)</a:t>
                </a:r>
              </a:p>
              <a:p>
                <a:pPr marL="0" indent="0">
                  <a:buNone/>
                </a:pPr>
                <a:endParaRPr lang="en-US" dirty="0"/>
              </a:p>
              <a:p>
                <a:pPr>
                  <a:buFont typeface="Wingdings" pitchFamily="2" charset="2"/>
                  <a:buChar char="Ø"/>
                </a:pPr>
                <a:r>
                  <a:rPr lang="en-US" dirty="0"/>
                  <a:t>If the firm offers a risky environment, the production function is</a:t>
                </a:r>
              </a:p>
              <a:p>
                <a:pPr marL="0" indent="0">
                  <a:buNone/>
                </a:pPr>
                <a:r>
                  <a:rPr lang="en-US" dirty="0"/>
                  <a:t>                                             q1=</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𝐸</m:t>
                    </m:r>
                  </m:oMath>
                </a14:m>
                <a:r>
                  <a:rPr lang="en-US" dirty="0"/>
                  <a:t>*</a:t>
                </a:r>
              </a:p>
            </p:txBody>
          </p:sp>
        </mc:Choice>
        <mc:Fallback xmlns="">
          <p:sp>
            <p:nvSpPr>
              <p:cNvPr id="3" name="Content Placeholder 2">
                <a:extLst>
                  <a:ext uri="{FF2B5EF4-FFF2-40B4-BE49-F238E27FC236}">
                    <a16:creationId xmlns:a16="http://schemas.microsoft.com/office/drawing/2014/main" id="{598E8751-C4E4-C57A-E640-9B8FEDDD95CD}"/>
                  </a:ext>
                </a:extLst>
              </p:cNvPr>
              <p:cNvSpPr>
                <a:spLocks noGrp="1" noRot="1" noChangeAspect="1" noMove="1" noResize="1" noEditPoints="1" noAdjustHandles="1" noChangeArrowheads="1" noChangeShapeType="1" noTextEdit="1"/>
              </p:cNvSpPr>
              <p:nvPr>
                <p:ph idx="1"/>
              </p:nvPr>
            </p:nvSpPr>
            <p:spPr>
              <a:xfrm>
                <a:off x="932165" y="1290918"/>
                <a:ext cx="8596669" cy="4485939"/>
              </a:xfrm>
              <a:blipFill>
                <a:blip r:embed="rId2"/>
                <a:stretch>
                  <a:fillRect l="-590" t="-563" b="-9014"/>
                </a:stretch>
              </a:blipFill>
            </p:spPr>
            <p:txBody>
              <a:bodyPr/>
              <a:lstStyle/>
              <a:p>
                <a:r>
                  <a:rPr lang="en-US">
                    <a:noFill/>
                  </a:rPr>
                  <a:t> </a:t>
                </a:r>
              </a:p>
            </p:txBody>
          </p:sp>
        </mc:Fallback>
      </mc:AlternateContent>
    </p:spTree>
    <p:extLst>
      <p:ext uri="{BB962C8B-B14F-4D97-AF65-F5344CB8AC3E}">
        <p14:creationId xmlns:p14="http://schemas.microsoft.com/office/powerpoint/2010/main" val="1372017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CD337667-6832-F1F8-CEB4-86060B637296}"/>
              </a:ext>
            </a:extLst>
          </p:cNvPr>
          <p:cNvSpPr>
            <a:spLocks noGrp="1"/>
          </p:cNvSpPr>
          <p:nvPr>
            <p:ph type="title"/>
          </p:nvPr>
        </p:nvSpPr>
        <p:spPr>
          <a:xfrm>
            <a:off x="537804" y="619879"/>
            <a:ext cx="5161535" cy="1375608"/>
          </a:xfrm>
        </p:spPr>
        <p:txBody>
          <a:bodyPr anchor="ctr">
            <a:normAutofit/>
          </a:bodyPr>
          <a:lstStyle/>
          <a:p>
            <a:r>
              <a:rPr lang="en-US" dirty="0">
                <a:solidFill>
                  <a:schemeClr val="bg1"/>
                </a:solidFill>
              </a:rPr>
              <a:t>❗️Safety is not cheap </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421E434B-EEB9-1807-9068-34CCE98BF17D}"/>
                  </a:ext>
                </a:extLst>
              </p:cNvPr>
              <p:cNvSpPr>
                <a:spLocks noGrp="1"/>
              </p:cNvSpPr>
              <p:nvPr>
                <p:ph idx="1"/>
              </p:nvPr>
            </p:nvSpPr>
            <p:spPr>
              <a:xfrm>
                <a:off x="300948" y="1995490"/>
                <a:ext cx="4660126" cy="3440110"/>
              </a:xfrm>
            </p:spPr>
            <p:txBody>
              <a:bodyPr>
                <a:normAutofit/>
              </a:bodyPr>
              <a:lstStyle/>
              <a:p>
                <a:r>
                  <a:rPr lang="en-US" dirty="0">
                    <a:solidFill>
                      <a:schemeClr val="bg1"/>
                    </a:solidFill>
                  </a:rPr>
                  <a:t>The firm’s profits equal the difference between the firm’s revenues (the price of the output p </a:t>
                </a:r>
                <a14:m>
                  <m:oMath xmlns:m="http://schemas.openxmlformats.org/officeDocument/2006/math">
                    <m:r>
                      <a:rPr lang="en-US"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 </m:t>
                    </m:r>
                  </m:oMath>
                </a14:m>
                <a:r>
                  <a:rPr lang="en-US" dirty="0">
                    <a:solidFill>
                      <a:schemeClr val="bg1"/>
                    </a:solidFill>
                  </a:rPr>
                  <a:t>the output produced) minus the firm’s costs (the wage the firm has to pay times the number of workers hired). </a:t>
                </a:r>
              </a:p>
              <a:p>
                <a:r>
                  <a:rPr lang="en-US" dirty="0">
                    <a:solidFill>
                      <a:schemeClr val="bg1"/>
                    </a:solidFill>
                  </a:rPr>
                  <a:t>The profits under each of the possibilities are given by</a:t>
                </a:r>
              </a:p>
              <a:p>
                <a:endParaRPr lang="en-US" dirty="0">
                  <a:solidFill>
                    <a:schemeClr val="bg1"/>
                  </a:solidFill>
                </a:endParaRPr>
              </a:p>
              <a:p>
                <a:endParaRPr lang="en-US" dirty="0">
                  <a:solidFill>
                    <a:schemeClr val="bg1"/>
                  </a:solidFill>
                </a:endParaRPr>
              </a:p>
            </p:txBody>
          </p:sp>
        </mc:Choice>
        <mc:Fallback xmlns="">
          <p:sp>
            <p:nvSpPr>
              <p:cNvPr id="9" name="Content Placeholder 8">
                <a:extLst>
                  <a:ext uri="{FF2B5EF4-FFF2-40B4-BE49-F238E27FC236}">
                    <a16:creationId xmlns:a16="http://schemas.microsoft.com/office/drawing/2014/main" id="{421E434B-EEB9-1807-9068-34CCE98BF17D}"/>
                  </a:ext>
                </a:extLst>
              </p:cNvPr>
              <p:cNvSpPr>
                <a:spLocks noGrp="1" noRot="1" noChangeAspect="1" noMove="1" noResize="1" noEditPoints="1" noAdjustHandles="1" noChangeArrowheads="1" noChangeShapeType="1" noTextEdit="1"/>
              </p:cNvSpPr>
              <p:nvPr>
                <p:ph idx="1"/>
              </p:nvPr>
            </p:nvSpPr>
            <p:spPr>
              <a:xfrm>
                <a:off x="300948" y="1995490"/>
                <a:ext cx="4660126" cy="3440110"/>
              </a:xfrm>
              <a:blipFill>
                <a:blip r:embed="rId3"/>
                <a:stretch>
                  <a:fillRect l="-272" t="-366" r="-543"/>
                </a:stretch>
              </a:blipFill>
            </p:spPr>
            <p:txBody>
              <a:bodyPr/>
              <a:lstStyle/>
              <a:p>
                <a:r>
                  <a:rPr lang="en-US">
                    <a:noFill/>
                  </a:rPr>
                  <a:t> </a:t>
                </a:r>
              </a:p>
            </p:txBody>
          </p:sp>
        </mc:Fallback>
      </mc:AlternateContent>
      <p:pic>
        <p:nvPicPr>
          <p:cNvPr id="5" name="Content Placeholder 4" descr="A group of men in protective gear holding drill&#10;&#10;AI-generated content may be incorrect.">
            <a:extLst>
              <a:ext uri="{FF2B5EF4-FFF2-40B4-BE49-F238E27FC236}">
                <a16:creationId xmlns:a16="http://schemas.microsoft.com/office/drawing/2014/main" id="{D63267EE-1D54-20CF-6E82-D910AEDB80BC}"/>
              </a:ext>
            </a:extLst>
          </p:cNvPr>
          <p:cNvPicPr>
            <a:picLocks noChangeAspect="1"/>
          </p:cNvPicPr>
          <p:nvPr/>
        </p:nvPicPr>
        <p:blipFill>
          <a:blip r:embed="rId4"/>
          <a:stretch>
            <a:fillRect/>
          </a:stretch>
        </p:blipFill>
        <p:spPr>
          <a:xfrm>
            <a:off x="5835289" y="1219188"/>
            <a:ext cx="6055763" cy="4381512"/>
          </a:xfrm>
          <a:prstGeom prst="rect">
            <a:avLst/>
          </a:prstGeom>
        </p:spPr>
      </p:pic>
      <p:sp>
        <p:nvSpPr>
          <p:cNvPr id="18" name="Isosceles Triangle 17">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7" name="Picture 6" descr="A mathematical equation with black letters&#10;&#10;AI-generated content may be incorrect.">
            <a:extLst>
              <a:ext uri="{FF2B5EF4-FFF2-40B4-BE49-F238E27FC236}">
                <a16:creationId xmlns:a16="http://schemas.microsoft.com/office/drawing/2014/main" id="{A77D3E04-5190-CBA4-E6FB-4D68773D585B}"/>
              </a:ext>
            </a:extLst>
          </p:cNvPr>
          <p:cNvPicPr>
            <a:picLocks noChangeAspect="1"/>
          </p:cNvPicPr>
          <p:nvPr/>
        </p:nvPicPr>
        <p:blipFill>
          <a:blip r:embed="rId5"/>
          <a:stretch>
            <a:fillRect/>
          </a:stretch>
        </p:blipFill>
        <p:spPr>
          <a:xfrm>
            <a:off x="422618" y="4589637"/>
            <a:ext cx="4178300" cy="1346200"/>
          </a:xfrm>
          <a:prstGeom prst="rect">
            <a:avLst/>
          </a:prstGeom>
        </p:spPr>
      </p:pic>
    </p:spTree>
    <p:extLst>
      <p:ext uri="{BB962C8B-B14F-4D97-AF65-F5344CB8AC3E}">
        <p14:creationId xmlns:p14="http://schemas.microsoft.com/office/powerpoint/2010/main" val="3839030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35" name="Rectangle 34">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41"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Isosceles Triangle 44">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Isosceles Triangle 48">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Freeform: Shape 50">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CA6B075-A14D-4B2F-F520-4BFFFCBCCBF6}"/>
              </a:ext>
            </a:extLst>
          </p:cNvPr>
          <p:cNvSpPr>
            <a:spLocks noGrp="1"/>
          </p:cNvSpPr>
          <p:nvPr>
            <p:ph type="title"/>
          </p:nvPr>
        </p:nvSpPr>
        <p:spPr>
          <a:xfrm>
            <a:off x="7181723" y="609600"/>
            <a:ext cx="4512989" cy="2227730"/>
          </a:xfrm>
        </p:spPr>
        <p:txBody>
          <a:bodyPr anchor="ctr">
            <a:normAutofit/>
          </a:bodyPr>
          <a:lstStyle/>
          <a:p>
            <a:r>
              <a:rPr lang="en-US">
                <a:solidFill>
                  <a:srgbClr val="FFFFFF"/>
                </a:solidFill>
              </a:rPr>
              <a:t>Decision Making: </a:t>
            </a:r>
          </a:p>
        </p:txBody>
      </p:sp>
      <p:pic>
        <p:nvPicPr>
          <p:cNvPr id="5" name="Picture 4" descr="A black text on a white background&#10;&#10;AI-generated content may be incorrect.">
            <a:extLst>
              <a:ext uri="{FF2B5EF4-FFF2-40B4-BE49-F238E27FC236}">
                <a16:creationId xmlns:a16="http://schemas.microsoft.com/office/drawing/2014/main" id="{8A8BE92D-D733-E64F-8B34-6D11817D2946}"/>
              </a:ext>
            </a:extLst>
          </p:cNvPr>
          <p:cNvPicPr>
            <a:picLocks noChangeAspect="1"/>
          </p:cNvPicPr>
          <p:nvPr/>
        </p:nvPicPr>
        <p:blipFill>
          <a:blip r:embed="rId3"/>
          <a:stretch>
            <a:fillRect/>
          </a:stretch>
        </p:blipFill>
        <p:spPr>
          <a:xfrm>
            <a:off x="247172" y="3052460"/>
            <a:ext cx="6523992" cy="1257905"/>
          </a:xfrm>
          <a:prstGeom prst="rect">
            <a:avLst/>
          </a:prstGeom>
        </p:spPr>
      </p:pic>
      <p:sp>
        <p:nvSpPr>
          <p:cNvPr id="3" name="Content Placeholder 2">
            <a:extLst>
              <a:ext uri="{FF2B5EF4-FFF2-40B4-BE49-F238E27FC236}">
                <a16:creationId xmlns:a16="http://schemas.microsoft.com/office/drawing/2014/main" id="{FB952AF2-1A37-E899-8BC3-10B36D2144D2}"/>
              </a:ext>
            </a:extLst>
          </p:cNvPr>
          <p:cNvSpPr>
            <a:spLocks noGrp="1"/>
          </p:cNvSpPr>
          <p:nvPr>
            <p:ph idx="1"/>
          </p:nvPr>
        </p:nvSpPr>
        <p:spPr>
          <a:xfrm>
            <a:off x="6918101" y="2297704"/>
            <a:ext cx="4859065" cy="3317938"/>
          </a:xfrm>
        </p:spPr>
        <p:txBody>
          <a:bodyPr anchor="t">
            <a:normAutofit lnSpcReduction="10000"/>
          </a:bodyPr>
          <a:lstStyle/>
          <a:p>
            <a:r>
              <a:rPr lang="en-US" dirty="0">
                <a:solidFill>
                  <a:schemeClr val="bg1"/>
                </a:solidFill>
              </a:rPr>
              <a:t>Define </a:t>
            </a:r>
            <a:r>
              <a:rPr lang="el-GR" b="1" dirty="0">
                <a:solidFill>
                  <a:schemeClr val="bg1"/>
                </a:solidFill>
              </a:rPr>
              <a:t>θ=</a:t>
            </a:r>
            <a:r>
              <a:rPr lang="en-US" b="1" dirty="0">
                <a:solidFill>
                  <a:schemeClr val="bg1"/>
                </a:solidFill>
              </a:rPr>
              <a:t>p</a:t>
            </a:r>
            <a:r>
              <a:rPr lang="el-GR" b="1" dirty="0">
                <a:solidFill>
                  <a:schemeClr val="bg1"/>
                </a:solidFill>
              </a:rPr>
              <a:t>α1−</a:t>
            </a:r>
            <a:r>
              <a:rPr lang="en-US" b="1" dirty="0">
                <a:solidFill>
                  <a:schemeClr val="bg1"/>
                </a:solidFill>
              </a:rPr>
              <a:t>p</a:t>
            </a:r>
            <a:r>
              <a:rPr lang="el-GR" b="1" dirty="0">
                <a:solidFill>
                  <a:schemeClr val="bg1"/>
                </a:solidFill>
              </a:rPr>
              <a:t>α0</a:t>
            </a:r>
            <a:r>
              <a:rPr lang="en-US" b="1" dirty="0">
                <a:solidFill>
                  <a:schemeClr val="bg1"/>
                </a:solidFill>
              </a:rPr>
              <a:t>. </a:t>
            </a:r>
            <a:r>
              <a:rPr lang="en-US" dirty="0">
                <a:solidFill>
                  <a:schemeClr val="bg1"/>
                </a:solidFill>
              </a:rPr>
              <a:t>As the per-worker dollar gain (i.e., the difference in the value of marginal product) when the firm switches from a safe to a risky environment.</a:t>
            </a:r>
          </a:p>
          <a:p>
            <a:r>
              <a:rPr lang="en-US" dirty="0">
                <a:solidFill>
                  <a:srgbClr val="FFFFFF"/>
                </a:solidFill>
              </a:rPr>
              <a:t>If the additional labor cost exceeds the per-worker productivity gain the firm is better off by offering a safe environment. </a:t>
            </a:r>
          </a:p>
          <a:p>
            <a:r>
              <a:rPr lang="en-US" dirty="0">
                <a:solidFill>
                  <a:srgbClr val="FFFFFF"/>
                </a:solidFill>
              </a:rPr>
              <a:t>If the per-worker productivity gain exceeds the additional labor cost</a:t>
            </a:r>
            <a:r>
              <a:rPr lang="el-GR" dirty="0">
                <a:solidFill>
                  <a:srgbClr val="FFFFFF"/>
                </a:solidFill>
              </a:rPr>
              <a:t>, </a:t>
            </a:r>
            <a:r>
              <a:rPr lang="en-US" dirty="0">
                <a:solidFill>
                  <a:srgbClr val="FFFFFF"/>
                </a:solidFill>
              </a:rPr>
              <a:t>the firm maximizes profits by offering a risky environment</a:t>
            </a:r>
          </a:p>
        </p:txBody>
      </p:sp>
    </p:spTree>
    <p:extLst>
      <p:ext uri="{BB962C8B-B14F-4D97-AF65-F5344CB8AC3E}">
        <p14:creationId xmlns:p14="http://schemas.microsoft.com/office/powerpoint/2010/main" val="3029965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1BE01-4433-80AA-7A07-5914E8AD472A}"/>
              </a:ext>
            </a:extLst>
          </p:cNvPr>
          <p:cNvSpPr>
            <a:spLocks noGrp="1"/>
          </p:cNvSpPr>
          <p:nvPr>
            <p:ph type="title"/>
          </p:nvPr>
        </p:nvSpPr>
        <p:spPr>
          <a:xfrm>
            <a:off x="5224761" y="717176"/>
            <a:ext cx="6655247" cy="1320800"/>
          </a:xfrm>
        </p:spPr>
        <p:txBody>
          <a:bodyPr>
            <a:normAutofit/>
          </a:bodyPr>
          <a:lstStyle/>
          <a:p>
            <a:r>
              <a:rPr lang="en-US" dirty="0"/>
              <a:t>Reaching the Equilibrium </a:t>
            </a:r>
          </a:p>
        </p:txBody>
      </p:sp>
      <p:pic>
        <p:nvPicPr>
          <p:cNvPr id="6" name="Content Placeholder 5" descr="A graph of workers in a company&#10;&#10;AI-generated content may be incorrect.">
            <a:extLst>
              <a:ext uri="{FF2B5EF4-FFF2-40B4-BE49-F238E27FC236}">
                <a16:creationId xmlns:a16="http://schemas.microsoft.com/office/drawing/2014/main" id="{E7A83A29-338B-3970-8148-A5D1D3EA49CC}"/>
              </a:ext>
            </a:extLst>
          </p:cNvPr>
          <p:cNvPicPr>
            <a:picLocks noGrp="1" noChangeAspect="1"/>
          </p:cNvPicPr>
          <p:nvPr>
            <p:ph idx="1"/>
          </p:nvPr>
        </p:nvPicPr>
        <p:blipFill>
          <a:blip r:embed="rId3"/>
          <a:stretch>
            <a:fillRect/>
          </a:stretch>
        </p:blipFill>
        <p:spPr>
          <a:xfrm>
            <a:off x="5536734" y="1930400"/>
            <a:ext cx="5394940" cy="4455886"/>
          </a:xfrm>
        </p:spPr>
      </p:pic>
      <p:pic>
        <p:nvPicPr>
          <p:cNvPr id="5" name="Picture 4" descr="Rocks stacked on driftwood with the sea on background">
            <a:extLst>
              <a:ext uri="{FF2B5EF4-FFF2-40B4-BE49-F238E27FC236}">
                <a16:creationId xmlns:a16="http://schemas.microsoft.com/office/drawing/2014/main" id="{FB88D84E-0FF7-7C32-D650-369FB56D0EFA}"/>
              </a:ext>
            </a:extLst>
          </p:cNvPr>
          <p:cNvPicPr>
            <a:picLocks noChangeAspect="1"/>
          </p:cNvPicPr>
          <p:nvPr/>
        </p:nvPicPr>
        <p:blipFill>
          <a:blip r:embed="rId4"/>
          <a:srcRect l="23004" r="24485"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7477274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706206B9-C98C-8935-2DFE-86602AFD7460}"/>
              </a:ext>
            </a:extLst>
          </p:cNvPr>
          <p:cNvSpPr>
            <a:spLocks noGrp="1"/>
          </p:cNvSpPr>
          <p:nvPr>
            <p:ph type="title"/>
          </p:nvPr>
        </p:nvSpPr>
        <p:spPr>
          <a:xfrm>
            <a:off x="673754" y="643467"/>
            <a:ext cx="4203045" cy="1375608"/>
          </a:xfrm>
        </p:spPr>
        <p:txBody>
          <a:bodyPr anchor="ctr">
            <a:normAutofit/>
          </a:bodyPr>
          <a:lstStyle/>
          <a:p>
            <a:r>
              <a:rPr lang="en-US">
                <a:solidFill>
                  <a:schemeClr val="bg1"/>
                </a:solidFill>
              </a:rPr>
              <a:t>🧐 What if there is special case? </a:t>
            </a:r>
          </a:p>
        </p:txBody>
      </p:sp>
      <p:sp>
        <p:nvSpPr>
          <p:cNvPr id="3" name="Content Placeholder 2">
            <a:extLst>
              <a:ext uri="{FF2B5EF4-FFF2-40B4-BE49-F238E27FC236}">
                <a16:creationId xmlns:a16="http://schemas.microsoft.com/office/drawing/2014/main" id="{ED579C15-7E9B-1368-1000-EA6E47F728C6}"/>
              </a:ext>
            </a:extLst>
          </p:cNvPr>
          <p:cNvSpPr>
            <a:spLocks noGrp="1"/>
          </p:cNvSpPr>
          <p:nvPr>
            <p:ph idx="1"/>
          </p:nvPr>
        </p:nvSpPr>
        <p:spPr>
          <a:xfrm>
            <a:off x="673754" y="2160589"/>
            <a:ext cx="4136399" cy="3790267"/>
          </a:xfrm>
        </p:spPr>
        <p:txBody>
          <a:bodyPr>
            <a:normAutofit fontScale="92500" lnSpcReduction="10000"/>
          </a:bodyPr>
          <a:lstStyle/>
          <a:p>
            <a:r>
              <a:rPr lang="en-US" dirty="0">
                <a:solidFill>
                  <a:schemeClr val="bg1"/>
                </a:solidFill>
              </a:rPr>
              <a:t>Market Equilibrium When Some Workers Prefer Risky Jobs</a:t>
            </a:r>
          </a:p>
          <a:p>
            <a:r>
              <a:rPr lang="en-US" dirty="0">
                <a:solidFill>
                  <a:schemeClr val="bg1"/>
                </a:solidFill>
              </a:rPr>
              <a:t>A worker who prefers a risky job is willing to pay for their right to work in that environment. If the demand for such workers is small, the market compensating differential may be negative. </a:t>
            </a:r>
          </a:p>
          <a:p>
            <a:r>
              <a:rPr lang="en-US" dirty="0">
                <a:solidFill>
                  <a:schemeClr val="bg1"/>
                </a:solidFill>
              </a:rPr>
              <a:t>At point P where supply equals demand, workers employed in risky jobs earn less than workers employed in safe jobs.</a:t>
            </a:r>
          </a:p>
          <a:p>
            <a:r>
              <a:rPr lang="en-US" dirty="0" err="1">
                <a:solidFill>
                  <a:schemeClr val="bg1"/>
                </a:solidFill>
              </a:rPr>
              <a:t>E.g</a:t>
            </a:r>
            <a:r>
              <a:rPr lang="en-US" dirty="0">
                <a:solidFill>
                  <a:schemeClr val="bg1"/>
                </a:solidFill>
              </a:rPr>
              <a:t>: limited number of job openings for test pilots. </a:t>
            </a:r>
          </a:p>
          <a:p>
            <a:pPr marL="0" indent="0">
              <a:buNone/>
            </a:pPr>
            <a:endParaRPr lang="en-US" dirty="0">
              <a:solidFill>
                <a:schemeClr val="bg1"/>
              </a:solidFill>
            </a:endParaRPr>
          </a:p>
          <a:p>
            <a:endParaRPr lang="en-US" dirty="0">
              <a:solidFill>
                <a:schemeClr val="bg1"/>
              </a:solidFill>
            </a:endParaRPr>
          </a:p>
          <a:p>
            <a:endParaRPr lang="en-US" dirty="0">
              <a:solidFill>
                <a:schemeClr val="bg1"/>
              </a:solidFill>
            </a:endParaRPr>
          </a:p>
        </p:txBody>
      </p:sp>
      <p:pic>
        <p:nvPicPr>
          <p:cNvPr id="5" name="Picture 4" descr="A graph of a number of workers in a company&#10;&#10;AI-generated content may be incorrect.">
            <a:extLst>
              <a:ext uri="{FF2B5EF4-FFF2-40B4-BE49-F238E27FC236}">
                <a16:creationId xmlns:a16="http://schemas.microsoft.com/office/drawing/2014/main" id="{388FEE41-2208-7CF8-F040-79F47FF9571D}"/>
              </a:ext>
            </a:extLst>
          </p:cNvPr>
          <p:cNvPicPr>
            <a:picLocks noChangeAspect="1"/>
          </p:cNvPicPr>
          <p:nvPr/>
        </p:nvPicPr>
        <p:blipFill>
          <a:blip r:embed="rId2"/>
          <a:stretch>
            <a:fillRect/>
          </a:stretch>
        </p:blipFill>
        <p:spPr>
          <a:xfrm>
            <a:off x="5729301" y="1204686"/>
            <a:ext cx="5876368" cy="4746171"/>
          </a:xfrm>
          <a:prstGeom prst="rect">
            <a:avLst/>
          </a:prstGeom>
        </p:spPr>
      </p:pic>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64919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heckerboard(across)">
                                      <p:cBhvr>
                                        <p:cTn id="15" dur="500"/>
                                        <p:tgtEl>
                                          <p:spTgt spid="3">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heckerboard(across)">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A101F-C79D-42B8-512A-350301741DA5}"/>
              </a:ext>
            </a:extLst>
          </p:cNvPr>
          <p:cNvSpPr>
            <a:spLocks noGrp="1"/>
          </p:cNvSpPr>
          <p:nvPr>
            <p:ph type="title"/>
          </p:nvPr>
        </p:nvSpPr>
        <p:spPr/>
        <p:txBody>
          <a:bodyPr>
            <a:normAutofit fontScale="90000"/>
          </a:bodyPr>
          <a:lstStyle/>
          <a:p>
            <a:r>
              <a:rPr lang="en-US" dirty="0"/>
              <a:t>💡</a:t>
            </a:r>
            <a:r>
              <a:rPr lang="en-US" b="1" dirty="0"/>
              <a:t>Brief Case Study:</a:t>
            </a:r>
            <a:br>
              <a:rPr lang="en-US" b="1" dirty="0"/>
            </a:br>
            <a:r>
              <a:rPr lang="en-US" dirty="0"/>
              <a:t>   Theory at Work Jumpers in Japan </a:t>
            </a:r>
            <a:br>
              <a:rPr lang="en-US" dirty="0"/>
            </a:br>
            <a:endParaRPr lang="en-US" dirty="0"/>
          </a:p>
        </p:txBody>
      </p:sp>
      <p:sp>
        <p:nvSpPr>
          <p:cNvPr id="3" name="Content Placeholder 2">
            <a:extLst>
              <a:ext uri="{FF2B5EF4-FFF2-40B4-BE49-F238E27FC236}">
                <a16:creationId xmlns:a16="http://schemas.microsoft.com/office/drawing/2014/main" id="{D9E4900E-F1B6-1DBB-D404-FEC66BD69149}"/>
              </a:ext>
            </a:extLst>
          </p:cNvPr>
          <p:cNvSpPr>
            <a:spLocks noGrp="1"/>
          </p:cNvSpPr>
          <p:nvPr>
            <p:ph idx="1"/>
          </p:nvPr>
        </p:nvSpPr>
        <p:spPr>
          <a:xfrm>
            <a:off x="677333" y="1930400"/>
            <a:ext cx="9336461" cy="4035502"/>
          </a:xfrm>
        </p:spPr>
        <p:txBody>
          <a:bodyPr>
            <a:normAutofit fontScale="92500" lnSpcReduction="10000"/>
          </a:bodyPr>
          <a:lstStyle/>
          <a:p>
            <a:r>
              <a:rPr lang="en-US" dirty="0"/>
              <a:t>On March 11, 2011, a deadly earthquake measuring 9.0 on the Richter scale struck the east coast of Japan. Within minutes, tsunami waves more than 100 feet high struck the coast. The tsunami waves were extremely destructive, wiping out entire towns in a matter of minutes</a:t>
            </a:r>
          </a:p>
          <a:p>
            <a:r>
              <a:rPr lang="en-US" dirty="0"/>
              <a:t>A number of cooling systems in some of the nuclear reactors that help provide electricity to Japan began to fail, and evacuations were required around the Fukushima nuclear plant, where thousands of tons of water became radioactive. The stabilization of the situation is obviously a very dangerous task, requiring workers to be exposed to radioactive material</a:t>
            </a:r>
          </a:p>
          <a:p>
            <a:r>
              <a:rPr lang="en-US" dirty="0"/>
              <a:t>the Tokyo Electric Power Company (TEPCO) needed workers, called “jumpers,” who would dart into highly radioactive areas to conduct a particular task and leave as quickly as possible so as to minimize their exposure. </a:t>
            </a:r>
          </a:p>
          <a:p>
            <a:r>
              <a:rPr lang="en-US" b="1" dirty="0">
                <a:solidFill>
                  <a:schemeClr val="accent5"/>
                </a:solidFill>
              </a:rPr>
              <a:t>The going pay for a jumper was around 200,000 yen, or roughly $2,400, for less than an hour’s work.</a:t>
            </a:r>
          </a:p>
          <a:p>
            <a:endParaRPr lang="en-US" dirty="0"/>
          </a:p>
        </p:txBody>
      </p:sp>
    </p:spTree>
    <p:extLst>
      <p:ext uri="{BB962C8B-B14F-4D97-AF65-F5344CB8AC3E}">
        <p14:creationId xmlns:p14="http://schemas.microsoft.com/office/powerpoint/2010/main" val="563902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CB1F6826-C444-2FAB-4FF7-0981BCF64EDD}"/>
              </a:ext>
            </a:extLst>
          </p:cNvPr>
          <p:cNvSpPr>
            <a:spLocks noGrp="1"/>
          </p:cNvSpPr>
          <p:nvPr>
            <p:ph type="title"/>
          </p:nvPr>
        </p:nvSpPr>
        <p:spPr>
          <a:xfrm>
            <a:off x="212810" y="535027"/>
            <a:ext cx="6075389" cy="1375608"/>
          </a:xfrm>
        </p:spPr>
        <p:txBody>
          <a:bodyPr anchor="ctr">
            <a:normAutofit/>
          </a:bodyPr>
          <a:lstStyle/>
          <a:p>
            <a:pPr>
              <a:lnSpc>
                <a:spcPct val="90000"/>
              </a:lnSpc>
            </a:pPr>
            <a:r>
              <a:rPr lang="en-US" sz="3100" dirty="0">
                <a:solidFill>
                  <a:schemeClr val="bg1"/>
                </a:solidFill>
              </a:rPr>
              <a:t>5-2 The Hedonic Wage </a:t>
            </a:r>
            <a:br>
              <a:rPr lang="en-US" sz="3100" dirty="0">
                <a:solidFill>
                  <a:schemeClr val="bg1"/>
                </a:solidFill>
              </a:rPr>
            </a:br>
            <a:r>
              <a:rPr lang="en-US" sz="3100" dirty="0">
                <a:solidFill>
                  <a:schemeClr val="bg1"/>
                </a:solidFill>
              </a:rPr>
              <a:t>Function</a:t>
            </a:r>
            <a:br>
              <a:rPr lang="en-US" sz="3100" dirty="0">
                <a:solidFill>
                  <a:schemeClr val="bg1"/>
                </a:solidFill>
              </a:rPr>
            </a:br>
            <a:endParaRPr lang="en-US" sz="3100" dirty="0">
              <a:solidFill>
                <a:schemeClr val="bg1"/>
              </a:solidFill>
            </a:endParaRPr>
          </a:p>
        </p:txBody>
      </p:sp>
      <p:sp>
        <p:nvSpPr>
          <p:cNvPr id="3" name="Content Placeholder 2">
            <a:extLst>
              <a:ext uri="{FF2B5EF4-FFF2-40B4-BE49-F238E27FC236}">
                <a16:creationId xmlns:a16="http://schemas.microsoft.com/office/drawing/2014/main" id="{33965EAC-BA59-0F31-7A00-0640C3A4124A}"/>
              </a:ext>
            </a:extLst>
          </p:cNvPr>
          <p:cNvSpPr>
            <a:spLocks noGrp="1"/>
          </p:cNvSpPr>
          <p:nvPr>
            <p:ph idx="1"/>
          </p:nvPr>
        </p:nvSpPr>
        <p:spPr>
          <a:xfrm>
            <a:off x="212810" y="2074684"/>
            <a:ext cx="4826445" cy="4139849"/>
          </a:xfrm>
        </p:spPr>
        <p:txBody>
          <a:bodyPr>
            <a:normAutofit fontScale="40000" lnSpcReduction="20000"/>
          </a:bodyPr>
          <a:lstStyle/>
          <a:p>
            <a:r>
              <a:rPr lang="en-US" sz="5000" dirty="0">
                <a:solidFill>
                  <a:schemeClr val="bg1"/>
                </a:solidFill>
              </a:rPr>
              <a:t>Indifference Curves for Different Types of Workers</a:t>
            </a:r>
          </a:p>
          <a:p>
            <a:r>
              <a:rPr lang="en-US" sz="5000" dirty="0">
                <a:solidFill>
                  <a:schemeClr val="bg1"/>
                </a:solidFill>
              </a:rPr>
              <a:t>Worker A has the steepest indifference curve, and hence the highest reservation price. A dislikes risk the most. </a:t>
            </a:r>
          </a:p>
          <a:p>
            <a:r>
              <a:rPr lang="en-US" sz="5000" dirty="0">
                <a:solidFill>
                  <a:schemeClr val="bg1"/>
                </a:solidFill>
              </a:rPr>
              <a:t>At the other extreme, worker C has the flattest indifference curve and the lowest reservation price. </a:t>
            </a:r>
          </a:p>
          <a:p>
            <a:r>
              <a:rPr lang="en-US" sz="5000" dirty="0">
                <a:solidFill>
                  <a:schemeClr val="bg1"/>
                </a:solidFill>
              </a:rPr>
              <a:t>Although worker C does not like risk, worker C does not mind it that</a:t>
            </a:r>
          </a:p>
          <a:p>
            <a:endParaRPr lang="en-US" dirty="0">
              <a:solidFill>
                <a:schemeClr val="bg1"/>
              </a:solidFill>
            </a:endParaRPr>
          </a:p>
        </p:txBody>
      </p:sp>
      <p:pic>
        <p:nvPicPr>
          <p:cNvPr id="7" name="Picture 6" descr="A graph showing the difference between a line and a line&#10;&#10;AI-generated content may be incorrect.">
            <a:extLst>
              <a:ext uri="{FF2B5EF4-FFF2-40B4-BE49-F238E27FC236}">
                <a16:creationId xmlns:a16="http://schemas.microsoft.com/office/drawing/2014/main" id="{DFE7ACA0-D49E-DAC6-9F68-AD490FFDF6C3}"/>
              </a:ext>
            </a:extLst>
          </p:cNvPr>
          <p:cNvPicPr>
            <a:picLocks noChangeAspect="1"/>
          </p:cNvPicPr>
          <p:nvPr/>
        </p:nvPicPr>
        <p:blipFill>
          <a:blip r:embed="rId2"/>
          <a:stretch>
            <a:fillRect/>
          </a:stretch>
        </p:blipFill>
        <p:spPr>
          <a:xfrm>
            <a:off x="5716872" y="1703706"/>
            <a:ext cx="5659695" cy="3896994"/>
          </a:xfrm>
          <a:prstGeom prst="rect">
            <a:avLst/>
          </a:prstGeom>
        </p:spPr>
      </p:pic>
      <p:sp>
        <p:nvSpPr>
          <p:cNvPr id="18" name="Isosceles Triangle 17">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403359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Isosceles Triangle 1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5116A7C7-E7B0-0804-AA70-918A45234BB4}"/>
              </a:ext>
            </a:extLst>
          </p:cNvPr>
          <p:cNvSpPr>
            <a:spLocks noGrp="1"/>
          </p:cNvSpPr>
          <p:nvPr>
            <p:ph type="title"/>
          </p:nvPr>
        </p:nvSpPr>
        <p:spPr>
          <a:xfrm>
            <a:off x="230324" y="321734"/>
            <a:ext cx="4906052" cy="1375608"/>
          </a:xfrm>
        </p:spPr>
        <p:txBody>
          <a:bodyPr anchor="ctr">
            <a:normAutofit/>
          </a:bodyPr>
          <a:lstStyle/>
          <a:p>
            <a:pPr marL="571500" indent="-571500">
              <a:buFont typeface="Wingdings" pitchFamily="2" charset="2"/>
              <a:buChar char="Ø"/>
            </a:pPr>
            <a:r>
              <a:rPr lang="en-US" dirty="0">
                <a:solidFill>
                  <a:schemeClr val="bg1"/>
                </a:solidFill>
              </a:rPr>
              <a:t>The </a:t>
            </a:r>
            <a:r>
              <a:rPr lang="en-US" dirty="0" err="1">
                <a:solidFill>
                  <a:schemeClr val="bg1"/>
                </a:solidFill>
              </a:rPr>
              <a:t>Isoprofit</a:t>
            </a:r>
            <a:r>
              <a:rPr lang="en-US" dirty="0">
                <a:solidFill>
                  <a:schemeClr val="bg1"/>
                </a:solidFill>
              </a:rPr>
              <a:t> Curve</a:t>
            </a:r>
          </a:p>
        </p:txBody>
      </p:sp>
      <p:sp>
        <p:nvSpPr>
          <p:cNvPr id="3" name="Content Placeholder 2">
            <a:extLst>
              <a:ext uri="{FF2B5EF4-FFF2-40B4-BE49-F238E27FC236}">
                <a16:creationId xmlns:a16="http://schemas.microsoft.com/office/drawing/2014/main" id="{4C7DF249-1E3E-B2F0-4C80-5895C7FACE6F}"/>
              </a:ext>
            </a:extLst>
          </p:cNvPr>
          <p:cNvSpPr>
            <a:spLocks noGrp="1"/>
          </p:cNvSpPr>
          <p:nvPr>
            <p:ph idx="1"/>
          </p:nvPr>
        </p:nvSpPr>
        <p:spPr>
          <a:xfrm>
            <a:off x="294613" y="2019076"/>
            <a:ext cx="3986384" cy="4448632"/>
          </a:xfrm>
        </p:spPr>
        <p:txBody>
          <a:bodyPr>
            <a:normAutofit fontScale="85000" lnSpcReduction="10000"/>
          </a:bodyPr>
          <a:lstStyle/>
          <a:p>
            <a:r>
              <a:rPr lang="en-US" dirty="0">
                <a:solidFill>
                  <a:schemeClr val="bg1"/>
                </a:solidFill>
              </a:rPr>
              <a:t>Firms compete for workers by offering different job packages, where a job package consists of a particular value of the wage w and of the probability of injury </a:t>
            </a:r>
            <a:r>
              <a:rPr lang="el-GR" dirty="0">
                <a:solidFill>
                  <a:schemeClr val="bg1"/>
                </a:solidFill>
              </a:rPr>
              <a:t>ρ. </a:t>
            </a:r>
            <a:endParaRPr lang="en-US" dirty="0">
              <a:solidFill>
                <a:schemeClr val="bg1"/>
              </a:solidFill>
            </a:endParaRPr>
          </a:p>
          <a:p>
            <a:r>
              <a:rPr lang="en-US" dirty="0">
                <a:solidFill>
                  <a:schemeClr val="bg1"/>
                </a:solidFill>
              </a:rPr>
              <a:t>An </a:t>
            </a:r>
            <a:r>
              <a:rPr lang="en-US" dirty="0" err="1">
                <a:solidFill>
                  <a:schemeClr val="bg1"/>
                </a:solidFill>
              </a:rPr>
              <a:t>isoprofit</a:t>
            </a:r>
            <a:r>
              <a:rPr lang="en-US" dirty="0">
                <a:solidFill>
                  <a:schemeClr val="bg1"/>
                </a:solidFill>
              </a:rPr>
              <a:t> curve gives all the combinations between the wage and the probability of injury that yield the same profits. </a:t>
            </a:r>
          </a:p>
          <a:p>
            <a:r>
              <a:rPr lang="en-US" b="1" dirty="0">
                <a:solidFill>
                  <a:schemeClr val="accent5"/>
                </a:solidFill>
              </a:rPr>
              <a:t>It is costly to produce safety.</a:t>
            </a:r>
          </a:p>
          <a:p>
            <a:r>
              <a:rPr lang="en-US" dirty="0">
                <a:solidFill>
                  <a:schemeClr val="bg1"/>
                </a:solidFill>
              </a:rPr>
              <a:t>If profits are held constant, a firm with probability </a:t>
            </a:r>
            <a:r>
              <a:rPr lang="el-GR" dirty="0">
                <a:solidFill>
                  <a:schemeClr val="bg1"/>
                </a:solidFill>
              </a:rPr>
              <a:t>ρ* </a:t>
            </a:r>
            <a:r>
              <a:rPr lang="en-US" dirty="0">
                <a:solidFill>
                  <a:schemeClr val="bg1"/>
                </a:solidFill>
              </a:rPr>
              <a:t>can make the workplace safer only if it reduces wages. </a:t>
            </a:r>
          </a:p>
          <a:p>
            <a:r>
              <a:rPr lang="en-US" dirty="0">
                <a:solidFill>
                  <a:schemeClr val="bg1"/>
                </a:solidFill>
              </a:rPr>
              <a:t>The </a:t>
            </a:r>
            <a:r>
              <a:rPr lang="en-US" dirty="0" err="1">
                <a:solidFill>
                  <a:schemeClr val="bg1"/>
                </a:solidFill>
              </a:rPr>
              <a:t>isoprofit</a:t>
            </a:r>
            <a:r>
              <a:rPr lang="en-US" dirty="0">
                <a:solidFill>
                  <a:schemeClr val="bg1"/>
                </a:solidFill>
              </a:rPr>
              <a:t> curve is upward sloping and higher </a:t>
            </a:r>
            <a:r>
              <a:rPr lang="en-US" dirty="0" err="1">
                <a:solidFill>
                  <a:schemeClr val="bg1"/>
                </a:solidFill>
              </a:rPr>
              <a:t>isoprofit</a:t>
            </a:r>
            <a:r>
              <a:rPr lang="en-US" dirty="0">
                <a:solidFill>
                  <a:schemeClr val="bg1"/>
                </a:solidFill>
              </a:rPr>
              <a:t> curves yield lower profits.</a:t>
            </a:r>
          </a:p>
          <a:p>
            <a:pPr marL="0" indent="0">
              <a:buNone/>
            </a:pPr>
            <a:br>
              <a:rPr lang="en-US" dirty="0">
                <a:solidFill>
                  <a:schemeClr val="bg1"/>
                </a:solidFill>
              </a:rPr>
            </a:br>
            <a:endParaRPr lang="en-US" dirty="0">
              <a:solidFill>
                <a:schemeClr val="bg1"/>
              </a:solidFill>
            </a:endParaRPr>
          </a:p>
          <a:p>
            <a:endParaRPr lang="el-GR" dirty="0">
              <a:solidFill>
                <a:schemeClr val="bg1"/>
              </a:solidFill>
            </a:endParaRPr>
          </a:p>
          <a:p>
            <a:endParaRPr lang="en-US" dirty="0">
              <a:solidFill>
                <a:schemeClr val="bg1"/>
              </a:solidFill>
            </a:endParaRPr>
          </a:p>
        </p:txBody>
      </p:sp>
      <p:pic>
        <p:nvPicPr>
          <p:cNvPr id="5" name="Picture 4" descr="A graph of a injury&#10;&#10;AI-generated content may be incorrect.">
            <a:extLst>
              <a:ext uri="{FF2B5EF4-FFF2-40B4-BE49-F238E27FC236}">
                <a16:creationId xmlns:a16="http://schemas.microsoft.com/office/drawing/2014/main" id="{0701AB5D-8E38-8439-D3C2-23B535ECAC7D}"/>
              </a:ext>
            </a:extLst>
          </p:cNvPr>
          <p:cNvPicPr>
            <a:picLocks noChangeAspect="1"/>
          </p:cNvPicPr>
          <p:nvPr/>
        </p:nvPicPr>
        <p:blipFill>
          <a:blip r:embed="rId2"/>
          <a:stretch>
            <a:fillRect/>
          </a:stretch>
        </p:blipFill>
        <p:spPr>
          <a:xfrm>
            <a:off x="6096001" y="1487501"/>
            <a:ext cx="5143500" cy="3870483"/>
          </a:xfrm>
          <a:prstGeom prst="rect">
            <a:avLst/>
          </a:prstGeom>
        </p:spPr>
      </p:pic>
      <p:sp>
        <p:nvSpPr>
          <p:cNvPr id="16" name="Isosceles Triangle 1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759167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4FCCA-DC71-CD6E-B139-CE3744E886BE}"/>
              </a:ext>
            </a:extLst>
          </p:cNvPr>
          <p:cNvSpPr>
            <a:spLocks noGrp="1"/>
          </p:cNvSpPr>
          <p:nvPr>
            <p:ph type="title"/>
          </p:nvPr>
        </p:nvSpPr>
        <p:spPr>
          <a:xfrm>
            <a:off x="677334" y="609600"/>
            <a:ext cx="8288246" cy="1386468"/>
          </a:xfrm>
        </p:spPr>
        <p:txBody>
          <a:bodyPr>
            <a:normAutofit fontScale="90000"/>
          </a:bodyPr>
          <a:lstStyle/>
          <a:p>
            <a:r>
              <a:rPr lang="en-US" b="1" dirty="0"/>
              <a:t>Equilibrium: </a:t>
            </a:r>
            <a:r>
              <a:rPr lang="en-US" sz="1800" b="1" dirty="0"/>
              <a:t>Firm X (producing computer software) finds it easy to</a:t>
            </a:r>
            <a:br>
              <a:rPr lang="en-US" sz="1800" b="1" dirty="0"/>
            </a:br>
            <a:r>
              <a:rPr lang="en-US" sz="1800" b="1" dirty="0"/>
              <a:t>provide a very safe work environment, while firm Z (experimental fighter planes)</a:t>
            </a:r>
            <a:br>
              <a:rPr lang="en-US" sz="1800" b="1" dirty="0"/>
            </a:br>
            <a:endParaRPr lang="en-US" sz="1800" b="1" dirty="0"/>
          </a:p>
        </p:txBody>
      </p:sp>
      <p:pic>
        <p:nvPicPr>
          <p:cNvPr id="5" name="Content Placeholder 4" descr="A diagram of a curve&#10;&#10;AI-generated content may be incorrect.">
            <a:extLst>
              <a:ext uri="{FF2B5EF4-FFF2-40B4-BE49-F238E27FC236}">
                <a16:creationId xmlns:a16="http://schemas.microsoft.com/office/drawing/2014/main" id="{072DE207-97B2-444A-8195-DA39EE73C8A4}"/>
              </a:ext>
            </a:extLst>
          </p:cNvPr>
          <p:cNvPicPr>
            <a:picLocks noGrp="1" noChangeAspect="1"/>
          </p:cNvPicPr>
          <p:nvPr>
            <p:ph idx="1"/>
          </p:nvPr>
        </p:nvPicPr>
        <p:blipFill>
          <a:blip r:embed="rId2"/>
          <a:stretch>
            <a:fillRect/>
          </a:stretch>
        </p:blipFill>
        <p:spPr>
          <a:xfrm>
            <a:off x="6582254" y="2655338"/>
            <a:ext cx="5353568" cy="3832089"/>
          </a:xfrm>
        </p:spPr>
      </p:pic>
      <p:sp>
        <p:nvSpPr>
          <p:cNvPr id="6" name="TextBox 5">
            <a:extLst>
              <a:ext uri="{FF2B5EF4-FFF2-40B4-BE49-F238E27FC236}">
                <a16:creationId xmlns:a16="http://schemas.microsoft.com/office/drawing/2014/main" id="{D442CDAB-2D42-5A64-80D7-6F0938958E37}"/>
              </a:ext>
            </a:extLst>
          </p:cNvPr>
          <p:cNvSpPr txBox="1"/>
          <p:nvPr/>
        </p:nvSpPr>
        <p:spPr>
          <a:xfrm>
            <a:off x="256178" y="2104074"/>
            <a:ext cx="6200378" cy="3323987"/>
          </a:xfrm>
          <a:prstGeom prst="rect">
            <a:avLst/>
          </a:prstGeom>
          <a:noFill/>
        </p:spPr>
        <p:txBody>
          <a:bodyPr wrap="square" rtlCol="0">
            <a:spAutoFit/>
          </a:bodyPr>
          <a:lstStyle/>
          <a:p>
            <a:pPr marL="285750" indent="-285750">
              <a:buFont typeface="Wingdings" pitchFamily="2" charset="2"/>
              <a:buChar char="Ø"/>
            </a:pPr>
            <a:r>
              <a:rPr lang="en-US" sz="1600" dirty="0"/>
              <a:t>Workers maximize utility by choosing the job package that places them on the highest possible</a:t>
            </a:r>
          </a:p>
          <a:p>
            <a:r>
              <a:rPr lang="en-US" sz="1600" dirty="0"/>
              <a:t>     indifference curve. </a:t>
            </a:r>
          </a:p>
          <a:p>
            <a:pPr marL="285750" indent="-285750">
              <a:buFont typeface="Wingdings" pitchFamily="2" charset="2"/>
              <a:buChar char="Ø"/>
            </a:pPr>
            <a:endParaRPr lang="en-US" sz="1600" dirty="0"/>
          </a:p>
          <a:p>
            <a:pPr marL="285750" indent="-285750">
              <a:buFont typeface="Wingdings" pitchFamily="2" charset="2"/>
              <a:buChar char="Ø"/>
            </a:pPr>
            <a:r>
              <a:rPr lang="en-US" sz="1600" dirty="0"/>
              <a:t>Worker A, who dislikes the risk of injury the most, maximizes utility at point Pa, and ends up at firm X, which happens to be the firm that finds it easiest to provide a safe work environment. </a:t>
            </a:r>
          </a:p>
          <a:p>
            <a:pPr marL="285750" indent="-285750">
              <a:buFont typeface="Wingdings" pitchFamily="2" charset="2"/>
              <a:buChar char="Ø"/>
            </a:pPr>
            <a:endParaRPr lang="en-US" sz="1600" dirty="0"/>
          </a:p>
          <a:p>
            <a:pPr marL="285750" indent="-285750">
              <a:buFont typeface="Wingdings" pitchFamily="2" charset="2"/>
              <a:buChar char="Ø"/>
            </a:pPr>
            <a:r>
              <a:rPr lang="en-US" sz="1600" dirty="0"/>
              <a:t>But worker C, who minds the risk of injury the least, maximizes utility at point Pc and ends up at firm Z, the firm that finds it difficult to provide a safe work environment</a:t>
            </a:r>
          </a:p>
          <a:p>
            <a:endParaRPr lang="en-US" dirty="0"/>
          </a:p>
        </p:txBody>
      </p:sp>
    </p:spTree>
    <p:extLst>
      <p:ext uri="{BB962C8B-B14F-4D97-AF65-F5344CB8AC3E}">
        <p14:creationId xmlns:p14="http://schemas.microsoft.com/office/powerpoint/2010/main" val="1175630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250CC-F345-7068-3351-62408EB6A050}"/>
              </a:ext>
            </a:extLst>
          </p:cNvPr>
          <p:cNvSpPr>
            <a:spLocks noGrp="1"/>
          </p:cNvSpPr>
          <p:nvPr>
            <p:ph type="title"/>
          </p:nvPr>
        </p:nvSpPr>
        <p:spPr>
          <a:xfrm>
            <a:off x="675065" y="609600"/>
            <a:ext cx="2930518" cy="1320800"/>
          </a:xfrm>
        </p:spPr>
        <p:txBody>
          <a:bodyPr anchor="ctr">
            <a:normAutofit/>
          </a:bodyPr>
          <a:lstStyle/>
          <a:p>
            <a:pPr>
              <a:lnSpc>
                <a:spcPct val="90000"/>
              </a:lnSpc>
            </a:pPr>
            <a:r>
              <a:rPr lang="en-US" sz="2000"/>
              <a:t>5-3: Policy Application: How Much Is a Life</a:t>
            </a:r>
            <a:br>
              <a:rPr lang="en-US" sz="2000"/>
            </a:br>
            <a:r>
              <a:rPr lang="en-US" sz="2000"/>
              <a:t>Worth?</a:t>
            </a:r>
            <a:br>
              <a:rPr lang="en-US" sz="2000"/>
            </a:br>
            <a:endParaRPr lang="en-US" sz="2000"/>
          </a:p>
        </p:txBody>
      </p:sp>
      <p:sp>
        <p:nvSpPr>
          <p:cNvPr id="11" name="Content Placeholder 10">
            <a:extLst>
              <a:ext uri="{FF2B5EF4-FFF2-40B4-BE49-F238E27FC236}">
                <a16:creationId xmlns:a16="http://schemas.microsoft.com/office/drawing/2014/main" id="{19724700-38F0-74C3-4958-8F172A594FD2}"/>
              </a:ext>
            </a:extLst>
          </p:cNvPr>
          <p:cNvSpPr>
            <a:spLocks noGrp="1"/>
          </p:cNvSpPr>
          <p:nvPr>
            <p:ph idx="1"/>
          </p:nvPr>
        </p:nvSpPr>
        <p:spPr>
          <a:xfrm>
            <a:off x="671361" y="2160589"/>
            <a:ext cx="2930517" cy="3880773"/>
          </a:xfrm>
        </p:spPr>
        <p:txBody>
          <a:bodyPr>
            <a:normAutofit/>
          </a:bodyPr>
          <a:lstStyle/>
          <a:p>
            <a:endParaRPr lang="en-US"/>
          </a:p>
        </p:txBody>
      </p:sp>
      <p:pic>
        <p:nvPicPr>
          <p:cNvPr id="7" name="Picture 6" descr="A close up of text&#10;&#10;AI-generated content may be incorrect.">
            <a:extLst>
              <a:ext uri="{FF2B5EF4-FFF2-40B4-BE49-F238E27FC236}">
                <a16:creationId xmlns:a16="http://schemas.microsoft.com/office/drawing/2014/main" id="{09DC3629-DD2E-3819-3BDA-E8B97A89E31E}"/>
              </a:ext>
            </a:extLst>
          </p:cNvPr>
          <p:cNvPicPr>
            <a:picLocks noChangeAspect="1"/>
          </p:cNvPicPr>
          <p:nvPr/>
        </p:nvPicPr>
        <p:blipFill>
          <a:blip r:embed="rId2"/>
          <a:stretch>
            <a:fillRect/>
          </a:stretch>
        </p:blipFill>
        <p:spPr>
          <a:xfrm>
            <a:off x="3839823" y="856342"/>
            <a:ext cx="6929401" cy="1074057"/>
          </a:xfrm>
          <a:prstGeom prst="rect">
            <a:avLst/>
          </a:prstGeom>
        </p:spPr>
      </p:pic>
      <p:pic>
        <p:nvPicPr>
          <p:cNvPr id="5" name="Content Placeholder 4">
            <a:extLst>
              <a:ext uri="{FF2B5EF4-FFF2-40B4-BE49-F238E27FC236}">
                <a16:creationId xmlns:a16="http://schemas.microsoft.com/office/drawing/2014/main" id="{CF1FCC4A-B00D-AAE1-43F4-3A8E81DA943A}"/>
              </a:ext>
            </a:extLst>
          </p:cNvPr>
          <p:cNvPicPr>
            <a:picLocks noChangeAspect="1"/>
          </p:cNvPicPr>
          <p:nvPr/>
        </p:nvPicPr>
        <p:blipFill>
          <a:blip r:embed="rId3"/>
          <a:stretch>
            <a:fillRect/>
          </a:stretch>
        </p:blipFill>
        <p:spPr>
          <a:xfrm>
            <a:off x="671361" y="1992085"/>
            <a:ext cx="7091853" cy="4609705"/>
          </a:xfrm>
          <a:prstGeom prst="rect">
            <a:avLst/>
          </a:prstGeom>
        </p:spPr>
      </p:pic>
    </p:spTree>
    <p:extLst>
      <p:ext uri="{BB962C8B-B14F-4D97-AF65-F5344CB8AC3E}">
        <p14:creationId xmlns:p14="http://schemas.microsoft.com/office/powerpoint/2010/main" val="368525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44B5B-D23D-68DA-29EC-9694BF8D49D6}"/>
              </a:ext>
            </a:extLst>
          </p:cNvPr>
          <p:cNvSpPr>
            <a:spLocks noGrp="1"/>
          </p:cNvSpPr>
          <p:nvPr>
            <p:ph type="title"/>
          </p:nvPr>
        </p:nvSpPr>
        <p:spPr/>
        <p:txBody>
          <a:bodyPr/>
          <a:lstStyle/>
          <a:p>
            <a:r>
              <a:rPr lang="en-US" dirty="0"/>
              <a:t>Let’s Calculate: </a:t>
            </a:r>
          </a:p>
        </p:txBody>
      </p:sp>
      <p:sp>
        <p:nvSpPr>
          <p:cNvPr id="3" name="Content Placeholder 2">
            <a:extLst>
              <a:ext uri="{FF2B5EF4-FFF2-40B4-BE49-F238E27FC236}">
                <a16:creationId xmlns:a16="http://schemas.microsoft.com/office/drawing/2014/main" id="{12835321-A6D8-5F5B-CDB7-C98D6D103339}"/>
              </a:ext>
            </a:extLst>
          </p:cNvPr>
          <p:cNvSpPr>
            <a:spLocks noGrp="1"/>
          </p:cNvSpPr>
          <p:nvPr>
            <p:ph idx="1"/>
          </p:nvPr>
        </p:nvSpPr>
        <p:spPr>
          <a:xfrm>
            <a:off x="677334" y="1488613"/>
            <a:ext cx="8596668" cy="3880773"/>
          </a:xfrm>
        </p:spPr>
        <p:txBody>
          <a:bodyPr/>
          <a:lstStyle/>
          <a:p>
            <a:r>
              <a:rPr lang="en-US" sz="2000" dirty="0"/>
              <a:t>Workers employed in firm X have a probability of fatal injury equal to </a:t>
            </a:r>
            <a:r>
              <a:rPr lang="el-GR" sz="2000" dirty="0"/>
              <a:t>ρ</a:t>
            </a:r>
          </a:p>
          <a:p>
            <a:r>
              <a:rPr lang="en-US" sz="2000" dirty="0"/>
              <a:t>and earn w dollars per year. </a:t>
            </a:r>
          </a:p>
          <a:p>
            <a:r>
              <a:rPr lang="en-US" sz="2000" dirty="0"/>
              <a:t>Workers employed in firm Y have a probability of fatal injury exceeding that in firm X by 0.001. </a:t>
            </a:r>
          </a:p>
          <a:p>
            <a:r>
              <a:rPr lang="en-US" sz="2000" dirty="0"/>
              <a:t>The empirical evidence indicates that the riskier job, on average, pays about $8,700 more. We summarize the data as follows : </a:t>
            </a:r>
          </a:p>
          <a:p>
            <a:endParaRPr lang="en-US" dirty="0"/>
          </a:p>
        </p:txBody>
      </p:sp>
      <p:pic>
        <p:nvPicPr>
          <p:cNvPr id="5" name="Picture 4" descr="A screenshot of a computer screen&#10;&#10;AI-generated content may be incorrect.">
            <a:extLst>
              <a:ext uri="{FF2B5EF4-FFF2-40B4-BE49-F238E27FC236}">
                <a16:creationId xmlns:a16="http://schemas.microsoft.com/office/drawing/2014/main" id="{21B238B9-9E5A-9751-90D3-3879871F8280}"/>
              </a:ext>
            </a:extLst>
          </p:cNvPr>
          <p:cNvPicPr>
            <a:picLocks noChangeAspect="1"/>
          </p:cNvPicPr>
          <p:nvPr/>
        </p:nvPicPr>
        <p:blipFill>
          <a:blip r:embed="rId2"/>
          <a:stretch>
            <a:fillRect/>
          </a:stretch>
        </p:blipFill>
        <p:spPr>
          <a:xfrm>
            <a:off x="1089468" y="4636354"/>
            <a:ext cx="7772400" cy="1662845"/>
          </a:xfrm>
          <a:prstGeom prst="rect">
            <a:avLst/>
          </a:prstGeom>
        </p:spPr>
      </p:pic>
    </p:spTree>
    <p:extLst>
      <p:ext uri="{BB962C8B-B14F-4D97-AF65-F5344CB8AC3E}">
        <p14:creationId xmlns:p14="http://schemas.microsoft.com/office/powerpoint/2010/main" val="2754971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0F04C-705C-934F-2F02-AA8248A83E3F}"/>
              </a:ext>
            </a:extLst>
          </p:cNvPr>
          <p:cNvSpPr>
            <a:spLocks noGrp="1"/>
          </p:cNvSpPr>
          <p:nvPr>
            <p:ph type="title"/>
          </p:nvPr>
        </p:nvSpPr>
        <p:spPr>
          <a:xfrm>
            <a:off x="503163" y="624113"/>
            <a:ext cx="8844037" cy="5834744"/>
          </a:xfrm>
        </p:spPr>
        <p:txBody>
          <a:bodyPr>
            <a:noAutofit/>
          </a:bodyPr>
          <a:lstStyle/>
          <a:p>
            <a:pPr marL="342900" indent="-342900">
              <a:buFont typeface="Wingdings" pitchFamily="2" charset="2"/>
              <a:buChar char="Ø"/>
            </a:pPr>
            <a:r>
              <a:rPr lang="en-US" sz="2000" dirty="0">
                <a:solidFill>
                  <a:schemeClr val="tx1"/>
                </a:solidFill>
              </a:rPr>
              <a:t>The wage increase resulting from a 0.001 increase in the probability of</a:t>
            </a:r>
            <a:br>
              <a:rPr lang="en-US" sz="2000" dirty="0">
                <a:solidFill>
                  <a:schemeClr val="tx1"/>
                </a:solidFill>
              </a:rPr>
            </a:br>
            <a:r>
              <a:rPr lang="en-US" sz="2000" dirty="0">
                <a:solidFill>
                  <a:schemeClr val="tx1"/>
                </a:solidFill>
              </a:rPr>
              <a:t>fatal injury is exactly what it takes to convince the marginal worker in firm Y to accept the slightly riskier job by holding utility constant. </a:t>
            </a:r>
            <a:br>
              <a:rPr lang="en-US" sz="2000" dirty="0">
                <a:solidFill>
                  <a:schemeClr val="tx1"/>
                </a:solidFill>
              </a:rPr>
            </a:br>
            <a:br>
              <a:rPr lang="en-US" sz="2000" dirty="0">
                <a:solidFill>
                  <a:schemeClr val="tx1"/>
                </a:solidFill>
              </a:rPr>
            </a:br>
            <a:r>
              <a:rPr lang="en-US" sz="2000" dirty="0">
                <a:solidFill>
                  <a:schemeClr val="tx1"/>
                </a:solidFill>
              </a:rPr>
              <a:t>(In other words, it is the marginal worker’s reservation price.)</a:t>
            </a:r>
            <a:br>
              <a:rPr lang="en-US" sz="2000" dirty="0">
                <a:solidFill>
                  <a:schemeClr val="tx1"/>
                </a:solidFill>
              </a:rPr>
            </a:br>
            <a:br>
              <a:rPr lang="en-US" sz="2000" dirty="0">
                <a:solidFill>
                  <a:schemeClr val="tx1"/>
                </a:solidFill>
              </a:rPr>
            </a:br>
            <a:r>
              <a:rPr lang="en-US" sz="2000" dirty="0">
                <a:solidFill>
                  <a:schemeClr val="tx1"/>
                </a:solidFill>
              </a:rPr>
              <a:t>This interpretation of the slope of the hedonic wage function suggests that each of the workers in firm Y is willing to give up $8,700 per year to reduce the probability of fatal injury in their job by 0.001. </a:t>
            </a:r>
            <a:br>
              <a:rPr lang="en-US" sz="2000" dirty="0">
                <a:solidFill>
                  <a:schemeClr val="tx1"/>
                </a:solidFill>
              </a:rPr>
            </a:br>
            <a:br>
              <a:rPr lang="en-US" sz="2000" dirty="0">
                <a:solidFill>
                  <a:schemeClr val="tx1"/>
                </a:solidFill>
              </a:rPr>
            </a:br>
            <a:r>
              <a:rPr lang="en-US" sz="2000" dirty="0">
                <a:solidFill>
                  <a:schemeClr val="tx1"/>
                </a:solidFill>
              </a:rPr>
              <a:t>Put differently, the 1,000 workers employed in firm Y are willing to give up $8.7 million (or $8,700 × 1,000 workers) to save the life of that one worker who will likely die that year. </a:t>
            </a:r>
            <a:br>
              <a:rPr lang="en-US" sz="2000" dirty="0">
                <a:solidFill>
                  <a:schemeClr val="tx1"/>
                </a:solidFill>
              </a:rPr>
            </a:br>
            <a:br>
              <a:rPr lang="en-US" sz="2000" dirty="0">
                <a:solidFill>
                  <a:schemeClr val="tx1"/>
                </a:solidFill>
              </a:rPr>
            </a:br>
            <a:r>
              <a:rPr lang="en-US" sz="2000" b="1" dirty="0">
                <a:solidFill>
                  <a:schemeClr val="accent5"/>
                </a:solidFill>
              </a:rPr>
              <a:t>therefore, value a life at $8.7 million.</a:t>
            </a:r>
            <a:br>
              <a:rPr lang="en-US" sz="2000" b="1" dirty="0">
                <a:solidFill>
                  <a:schemeClr val="accent5"/>
                </a:solidFill>
              </a:rPr>
            </a:br>
            <a:br>
              <a:rPr lang="en-US" sz="2000" b="1" dirty="0">
                <a:solidFill>
                  <a:schemeClr val="accent5"/>
                </a:solidFill>
              </a:rPr>
            </a:br>
            <a:r>
              <a:rPr lang="en-US" sz="2000" b="1" dirty="0">
                <a:solidFill>
                  <a:schemeClr val="accent5"/>
                </a:solidFill>
              </a:rPr>
              <a:t>🧐 Thoughts? </a:t>
            </a:r>
          </a:p>
        </p:txBody>
      </p:sp>
    </p:spTree>
    <p:extLst>
      <p:ext uri="{BB962C8B-B14F-4D97-AF65-F5344CB8AC3E}">
        <p14:creationId xmlns:p14="http://schemas.microsoft.com/office/powerpoint/2010/main" val="2164320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2215A-7C4F-2079-B63B-ECA6E0543330}"/>
              </a:ext>
            </a:extLst>
          </p:cNvPr>
          <p:cNvSpPr>
            <a:spLocks noGrp="1"/>
          </p:cNvSpPr>
          <p:nvPr>
            <p:ph type="title"/>
          </p:nvPr>
        </p:nvSpPr>
        <p:spPr>
          <a:xfrm>
            <a:off x="387362" y="304800"/>
            <a:ext cx="8596668" cy="1320800"/>
          </a:xfrm>
        </p:spPr>
        <p:txBody>
          <a:bodyPr/>
          <a:lstStyle/>
          <a:p>
            <a:r>
              <a:rPr lang="en-US" dirty="0"/>
              <a:t>💡</a:t>
            </a:r>
            <a:r>
              <a:rPr lang="en-US" b="1" dirty="0"/>
              <a:t>Brief Case Study:</a:t>
            </a:r>
            <a:br>
              <a:rPr lang="en-US" b="1" dirty="0"/>
            </a:br>
            <a:r>
              <a:rPr lang="en-US" b="1" dirty="0"/>
              <a:t>   </a:t>
            </a:r>
            <a:r>
              <a:rPr lang="en-US" dirty="0"/>
              <a:t>The Value Of Life On The Interstate </a:t>
            </a:r>
          </a:p>
        </p:txBody>
      </p:sp>
      <p:sp>
        <p:nvSpPr>
          <p:cNvPr id="3" name="Content Placeholder 2">
            <a:extLst>
              <a:ext uri="{FF2B5EF4-FFF2-40B4-BE49-F238E27FC236}">
                <a16:creationId xmlns:a16="http://schemas.microsoft.com/office/drawing/2014/main" id="{4568A650-64D0-A53D-5A04-1D771FFEC470}"/>
              </a:ext>
            </a:extLst>
          </p:cNvPr>
          <p:cNvSpPr>
            <a:spLocks noGrp="1"/>
          </p:cNvSpPr>
          <p:nvPr>
            <p:ph idx="1"/>
          </p:nvPr>
        </p:nvSpPr>
        <p:spPr>
          <a:xfrm>
            <a:off x="677335" y="1494970"/>
            <a:ext cx="8016722" cy="5210629"/>
          </a:xfrm>
        </p:spPr>
        <p:txBody>
          <a:bodyPr>
            <a:normAutofit fontScale="92500" lnSpcReduction="10000"/>
          </a:bodyPr>
          <a:lstStyle/>
          <a:p>
            <a:r>
              <a:rPr lang="en-US" sz="1900" dirty="0"/>
              <a:t>In 1987, the federal government gave states the option of raising the speed limit on their rural interstate highways, from 55 to 65 mph. By the end of 1987, 38 states had raised the maximum speed limit on their rural interstates despite the warning that such an  increase would lead to more highway fatalities.</a:t>
            </a:r>
          </a:p>
          <a:p>
            <a:r>
              <a:rPr lang="en-US" sz="1900" dirty="0"/>
              <a:t>A report by the Indiana Department of Transportation makes the trade-off clear: “Speed limits represent trade-offs between risk and travel time ... reflecting an appropriate balance between the societal goals of safety and mobility.” </a:t>
            </a:r>
          </a:p>
          <a:p>
            <a:pPr marL="0" indent="0">
              <a:buNone/>
            </a:pPr>
            <a:endParaRPr lang="en-US" sz="1900" dirty="0"/>
          </a:p>
          <a:p>
            <a:r>
              <a:rPr lang="en-US" sz="1900" dirty="0"/>
              <a:t>The states that chose to increase the speed limit were implicitly indicating that the value of time saved by driving faster was worth more than the value of the lives of the additional fatalities.  ❗️(Wondering the results? )</a:t>
            </a:r>
          </a:p>
          <a:p>
            <a:endParaRPr lang="en-US" sz="1900" dirty="0"/>
          </a:p>
          <a:p>
            <a:r>
              <a:rPr lang="en-US" sz="1900" b="1" dirty="0">
                <a:solidFill>
                  <a:schemeClr val="accent5"/>
                </a:solidFill>
              </a:rPr>
              <a:t>The fatality rate (i.e., the number of fatalities per 100 million vehicle-miles of travel) rose by around 35 percent. At the same time, the amount of time required to travel a mile fell by about 4 percent. </a:t>
            </a:r>
          </a:p>
          <a:p>
            <a:endParaRPr lang="en-US" dirty="0"/>
          </a:p>
        </p:txBody>
      </p:sp>
    </p:spTree>
    <p:extLst>
      <p:ext uri="{BB962C8B-B14F-4D97-AF65-F5344CB8AC3E}">
        <p14:creationId xmlns:p14="http://schemas.microsoft.com/office/powerpoint/2010/main" val="349550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CAD42F-123D-E401-9B32-794D64A42A41}"/>
              </a:ext>
            </a:extLst>
          </p:cNvPr>
          <p:cNvSpPr>
            <a:spLocks noGrp="1"/>
          </p:cNvSpPr>
          <p:nvPr>
            <p:ph idx="1"/>
          </p:nvPr>
        </p:nvSpPr>
        <p:spPr>
          <a:xfrm>
            <a:off x="866019" y="2204133"/>
            <a:ext cx="10063237" cy="1642153"/>
          </a:xfrm>
        </p:spPr>
        <p:txBody>
          <a:bodyPr>
            <a:normAutofit/>
          </a:bodyPr>
          <a:lstStyle/>
          <a:p>
            <a:pPr marL="0" indent="0">
              <a:buNone/>
            </a:pPr>
            <a:r>
              <a:rPr lang="en-US" sz="3600" dirty="0"/>
              <a:t>          ❤️ Safety is always the first!!!</a:t>
            </a:r>
          </a:p>
        </p:txBody>
      </p:sp>
    </p:spTree>
    <p:extLst>
      <p:ext uri="{BB962C8B-B14F-4D97-AF65-F5344CB8AC3E}">
        <p14:creationId xmlns:p14="http://schemas.microsoft.com/office/powerpoint/2010/main" val="107795293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263</TotalTime>
  <Words>1740</Words>
  <Application>Microsoft Macintosh PowerPoint</Application>
  <PresentationFormat>Widescreen</PresentationFormat>
  <Paragraphs>95</Paragraphs>
  <Slides>18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Cambria Math</vt:lpstr>
      <vt:lpstr>Trebuchet MS</vt:lpstr>
      <vt:lpstr>Wingdings</vt:lpstr>
      <vt:lpstr>Wingdings 3</vt:lpstr>
      <vt:lpstr>Facet</vt:lpstr>
      <vt:lpstr>Chapter 5-1 to 5-3    Compensating Wage Differentials</vt:lpstr>
      <vt:lpstr>5-1  The Market for Risky Jobs </vt:lpstr>
      <vt:lpstr>PowerPoint Presentation</vt:lpstr>
      <vt:lpstr>The Supply of Labor to Risky Jobs</vt:lpstr>
      <vt:lpstr>The Demand of Labor to Risky Jobs</vt:lpstr>
      <vt:lpstr>❗️Safety is not cheap </vt:lpstr>
      <vt:lpstr>Decision Making: </vt:lpstr>
      <vt:lpstr>Reaching the Equilibrium </vt:lpstr>
      <vt:lpstr>🧐 What if there is special case? </vt:lpstr>
      <vt:lpstr>💡Brief Case Study:    Theory at Work Jumpers in Japan  </vt:lpstr>
      <vt:lpstr>5-2 The Hedonic Wage  Function </vt:lpstr>
      <vt:lpstr>The Isoprofit Curve</vt:lpstr>
      <vt:lpstr>Equilibrium: Firm X (producing computer software) finds it easy to provide a very safe work environment, while firm Z (experimental fighter planes) </vt:lpstr>
      <vt:lpstr>5-3: Policy Application: How Much Is a Life Worth? </vt:lpstr>
      <vt:lpstr>Let’s Calculate: </vt:lpstr>
      <vt:lpstr>The wage increase resulting from a 0.001 increase in the probability of fatal injury is exactly what it takes to convince the marginal worker in firm Y to accept the slightly riskier job by holding utility constant.   (In other words, it is the marginal worker’s reservation price.)  This interpretation of the slope of the hedonic wage function suggests that each of the workers in firm Y is willing to give up $8,700 per year to reduce the probability of fatal injury in their job by 0.001.   Put differently, the 1,000 workers employed in firm Y are willing to give up $8.7 million (or $8,700 × 1,000 workers) to save the life of that one worker who will likely die that year.   therefore, value a life at $8.7 million.  🧐 Thoughts? </vt:lpstr>
      <vt:lpstr>💡Brief Case Study:    The Value Of Life On The Interstate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haining Yuan</dc:creator>
  <cp:lastModifiedBy>haining Yuan</cp:lastModifiedBy>
  <cp:revision>3</cp:revision>
  <dcterms:created xsi:type="dcterms:W3CDTF">2025-09-27T17:25:06Z</dcterms:created>
  <dcterms:modified xsi:type="dcterms:W3CDTF">2025-09-27T21:52:53Z</dcterms:modified>
</cp:coreProperties>
</file>