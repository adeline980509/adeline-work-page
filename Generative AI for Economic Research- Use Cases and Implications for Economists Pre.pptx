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2"/>
  </p:normalViewPr>
  <p:slideViewPr>
    <p:cSldViewPr snapToGrid="0">
      <p:cViewPr varScale="1">
        <p:scale>
          <a:sx n="119" d="100"/>
          <a:sy n="119" d="100"/>
        </p:scale>
        <p:origin x="2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10/4/25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66D28-84A7-8416-5503-146194A37054}"/>
              </a:ext>
            </a:extLst>
          </p:cNvPr>
          <p:cNvSpPr>
            <a:spLocks noGrp="1"/>
          </p:cNvSpPr>
          <p:nvPr>
            <p:ph type="ctrTitle"/>
          </p:nvPr>
        </p:nvSpPr>
        <p:spPr>
          <a:xfrm>
            <a:off x="931990" y="921078"/>
            <a:ext cx="8496250" cy="2548270"/>
          </a:xfrm>
        </p:spPr>
        <p:txBody>
          <a:bodyPr/>
          <a:lstStyle/>
          <a:p>
            <a:pPr algn="ctr"/>
            <a:r>
              <a:rPr lang="en-US" sz="3200" dirty="0"/>
              <a:t>Generative AI for Economic Research:</a:t>
            </a:r>
            <a:br>
              <a:rPr lang="en-US" sz="3200" dirty="0"/>
            </a:br>
            <a:r>
              <a:rPr lang="en-US" sz="3200" dirty="0"/>
              <a:t>Use Cases and Implications for</a:t>
            </a:r>
            <a:br>
              <a:rPr lang="en-US" sz="3200" dirty="0"/>
            </a:br>
            <a:r>
              <a:rPr lang="en-US" sz="3200" dirty="0"/>
              <a:t>Economists</a:t>
            </a:r>
            <a:br>
              <a:rPr lang="en-US" sz="3200" dirty="0"/>
            </a:br>
            <a:endParaRPr lang="en-US" sz="3200" dirty="0"/>
          </a:p>
        </p:txBody>
      </p:sp>
      <p:sp>
        <p:nvSpPr>
          <p:cNvPr id="3" name="Subtitle 2">
            <a:extLst>
              <a:ext uri="{FF2B5EF4-FFF2-40B4-BE49-F238E27FC236}">
                <a16:creationId xmlns:a16="http://schemas.microsoft.com/office/drawing/2014/main" id="{D022C58F-D53A-6368-3B61-9AF0A1DFBFD4}"/>
              </a:ext>
            </a:extLst>
          </p:cNvPr>
          <p:cNvSpPr>
            <a:spLocks noGrp="1"/>
          </p:cNvSpPr>
          <p:nvPr>
            <p:ph type="subTitle" idx="1"/>
          </p:nvPr>
        </p:nvSpPr>
        <p:spPr>
          <a:xfrm>
            <a:off x="1174361" y="3984734"/>
            <a:ext cx="8253879" cy="1116076"/>
          </a:xfrm>
        </p:spPr>
        <p:txBody>
          <a:bodyPr>
            <a:noAutofit/>
          </a:bodyPr>
          <a:lstStyle/>
          <a:p>
            <a:r>
              <a:rPr lang="en-US" sz="2800" b="1" dirty="0">
                <a:solidFill>
                  <a:schemeClr val="tx2"/>
                </a:solidFill>
              </a:rPr>
              <a:t>Author: Anton Korinek</a:t>
            </a:r>
          </a:p>
          <a:p>
            <a:r>
              <a:rPr lang="en-US" sz="2000" dirty="0"/>
              <a:t>Presenter: Adeline(Haining)Yuan</a:t>
            </a:r>
          </a:p>
          <a:p>
            <a:endParaRPr lang="en-US" sz="2000" dirty="0"/>
          </a:p>
          <a:p>
            <a:r>
              <a:rPr lang="en-US" sz="2000" b="1" dirty="0">
                <a:solidFill>
                  <a:schemeClr val="tx1"/>
                </a:solidFill>
              </a:rPr>
              <a:t>How often do you use ChatGPT daily?</a:t>
            </a:r>
          </a:p>
          <a:p>
            <a:r>
              <a:rPr lang="en-US" sz="2800" dirty="0"/>
              <a:t> </a:t>
            </a:r>
          </a:p>
        </p:txBody>
      </p:sp>
    </p:spTree>
    <p:extLst>
      <p:ext uri="{BB962C8B-B14F-4D97-AF65-F5344CB8AC3E}">
        <p14:creationId xmlns:p14="http://schemas.microsoft.com/office/powerpoint/2010/main" val="272896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61BA9-1F80-0700-6549-B55D930C08F3}"/>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A8D55622-05BB-9E03-6388-107271910DEC}"/>
              </a:ext>
            </a:extLst>
          </p:cNvPr>
          <p:cNvSpPr>
            <a:spLocks noGrp="1"/>
          </p:cNvSpPr>
          <p:nvPr>
            <p:ph idx="1"/>
          </p:nvPr>
        </p:nvSpPr>
        <p:spPr>
          <a:xfrm>
            <a:off x="677334" y="1356358"/>
            <a:ext cx="8191245" cy="4746987"/>
          </a:xfrm>
        </p:spPr>
        <p:txBody>
          <a:bodyPr>
            <a:noAutofit/>
          </a:bodyPr>
          <a:lstStyle/>
          <a:p>
            <a:pPr algn="just"/>
            <a:r>
              <a:rPr lang="en-US" sz="2400" dirty="0"/>
              <a:t>Rapid advances in </a:t>
            </a:r>
            <a:r>
              <a:rPr lang="en-US" sz="2400" i="1" dirty="0"/>
              <a:t>generative artificial intelligence (AI)</a:t>
            </a:r>
            <a:r>
              <a:rPr lang="en-US" sz="2400" dirty="0"/>
              <a:t>—especially </a:t>
            </a:r>
            <a:r>
              <a:rPr lang="en-US" sz="2400" i="1" dirty="0"/>
              <a:t>large language models (LLMs)</a:t>
            </a:r>
            <a:r>
              <a:rPr lang="en-US" sz="2400" dirty="0"/>
              <a:t> have transformed how economists can perform research tasks.</a:t>
            </a:r>
          </a:p>
          <a:p>
            <a:pPr algn="just"/>
            <a:endParaRPr lang="en-US" sz="2400" dirty="0"/>
          </a:p>
          <a:p>
            <a:pPr algn="just"/>
            <a:r>
              <a:rPr lang="en-US" sz="2400" dirty="0"/>
              <a:t>The past few years have seen </a:t>
            </a:r>
            <a:r>
              <a:rPr lang="en-US" sz="2400" b="1" dirty="0"/>
              <a:t>unprecedented advances in generative AI</a:t>
            </a:r>
            <a:r>
              <a:rPr lang="en-US" sz="2400" dirty="0"/>
              <a:t>, especially </a:t>
            </a:r>
            <a:r>
              <a:rPr lang="en-US" sz="2400" b="1" dirty="0"/>
              <a:t>large language models (LLMs)</a:t>
            </a:r>
            <a:r>
              <a:rPr lang="en-US" sz="2400" dirty="0"/>
              <a:t> such as </a:t>
            </a:r>
            <a:r>
              <a:rPr lang="en-US" sz="2400" i="1" dirty="0"/>
              <a:t>ChatGPT</a:t>
            </a:r>
            <a:r>
              <a:rPr lang="en-US" sz="2400" dirty="0"/>
              <a:t>, </a:t>
            </a:r>
            <a:r>
              <a:rPr lang="en-US" sz="2400" i="1" dirty="0"/>
              <a:t>Claude</a:t>
            </a:r>
            <a:r>
              <a:rPr lang="en-US" sz="2400" dirty="0"/>
              <a:t>, and </a:t>
            </a:r>
            <a:r>
              <a:rPr lang="en-US" sz="2400" i="1" dirty="0"/>
              <a:t>Bard</a:t>
            </a:r>
            <a:r>
              <a:rPr lang="en-US" sz="2400" dirty="0"/>
              <a:t>.</a:t>
            </a:r>
            <a:br>
              <a:rPr lang="en-US" sz="2400" dirty="0"/>
            </a:br>
            <a:r>
              <a:rPr lang="en-US" sz="2400" dirty="0"/>
              <a:t>These systems can generate, interpret, and critique text, code, and data with increasing fluency. </a:t>
            </a:r>
            <a:r>
              <a:rPr lang="en-US" sz="2400" b="1" dirty="0">
                <a:solidFill>
                  <a:schemeClr val="accent5"/>
                </a:solidFill>
              </a:rPr>
              <a:t>(Now also have </a:t>
            </a:r>
            <a:r>
              <a:rPr lang="en-US" sz="2400" b="1" dirty="0" err="1">
                <a:solidFill>
                  <a:schemeClr val="accent5"/>
                </a:solidFill>
              </a:rPr>
              <a:t>Deepseek</a:t>
            </a:r>
            <a:r>
              <a:rPr lang="en-US" sz="2400" b="1" dirty="0">
                <a:solidFill>
                  <a:schemeClr val="accent5"/>
                </a:solidFill>
              </a:rPr>
              <a:t>!)</a:t>
            </a:r>
          </a:p>
        </p:txBody>
      </p:sp>
    </p:spTree>
    <p:extLst>
      <p:ext uri="{BB962C8B-B14F-4D97-AF65-F5344CB8AC3E}">
        <p14:creationId xmlns:p14="http://schemas.microsoft.com/office/powerpoint/2010/main" val="12758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9716C-BDDD-5533-0592-4175BB20C081}"/>
              </a:ext>
            </a:extLst>
          </p:cNvPr>
          <p:cNvSpPr>
            <a:spLocks noGrp="1"/>
          </p:cNvSpPr>
          <p:nvPr>
            <p:ph type="title"/>
          </p:nvPr>
        </p:nvSpPr>
        <p:spPr>
          <a:xfrm>
            <a:off x="302760" y="246043"/>
            <a:ext cx="6582782" cy="921745"/>
          </a:xfrm>
        </p:spPr>
        <p:txBody>
          <a:bodyPr/>
          <a:lstStyle/>
          <a:p>
            <a:r>
              <a:rPr lang="en-US" dirty="0"/>
              <a:t>Motivation &amp; Scope</a:t>
            </a:r>
          </a:p>
        </p:txBody>
      </p:sp>
      <p:sp>
        <p:nvSpPr>
          <p:cNvPr id="4" name="Rectangle 1">
            <a:extLst>
              <a:ext uri="{FF2B5EF4-FFF2-40B4-BE49-F238E27FC236}">
                <a16:creationId xmlns:a16="http://schemas.microsoft.com/office/drawing/2014/main" id="{42D5CC77-77F2-4017-8379-0EC48B47509F}"/>
              </a:ext>
            </a:extLst>
          </p:cNvPr>
          <p:cNvSpPr>
            <a:spLocks noGrp="1" noChangeArrowheads="1"/>
          </p:cNvSpPr>
          <p:nvPr>
            <p:ph idx="1"/>
          </p:nvPr>
        </p:nvSpPr>
        <p:spPr bwMode="auto">
          <a:xfrm>
            <a:off x="302760" y="1131039"/>
            <a:ext cx="997597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The article serves as a </a:t>
            </a:r>
            <a:r>
              <a:rPr kumimoji="0" lang="en-US" altLang="en-US" sz="1800" b="1" i="0" u="none" strike="noStrike" cap="none" normalizeH="0" baseline="0" dirty="0">
                <a:ln>
                  <a:noFill/>
                </a:ln>
                <a:solidFill>
                  <a:schemeClr val="tx1"/>
                </a:solidFill>
                <a:effectLst/>
                <a:latin typeface="Arial" panose="020B0604020202020204" pitchFamily="34" charset="0"/>
              </a:rPr>
              <a:t>comprehensive guide</a:t>
            </a:r>
            <a:r>
              <a:rPr kumimoji="0" lang="en-US" altLang="en-US" sz="1800" b="0" i="0" u="none" strike="noStrike" cap="none" normalizeH="0" baseline="0" dirty="0">
                <a:ln>
                  <a:noFill/>
                </a:ln>
                <a:solidFill>
                  <a:schemeClr val="tx1"/>
                </a:solidFill>
                <a:effectLst/>
                <a:latin typeface="Arial" panose="020B0604020202020204" pitchFamily="34" charset="0"/>
              </a:rPr>
              <a:t> to practical AI applications for economists.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systematically classifies </a:t>
            </a:r>
            <a:r>
              <a:rPr kumimoji="0" lang="en-US" altLang="en-US" sz="1800" b="1" i="0" u="none" strike="noStrike" cap="none" normalizeH="0" baseline="0" dirty="0">
                <a:ln>
                  <a:noFill/>
                </a:ln>
                <a:solidFill>
                  <a:schemeClr val="tx1"/>
                </a:solidFill>
                <a:effectLst/>
                <a:latin typeface="Arial" panose="020B0604020202020204" pitchFamily="34" charset="0"/>
              </a:rPr>
              <a:t>dozens of concrete use cases</a:t>
            </a:r>
            <a:r>
              <a:rPr kumimoji="0" lang="en-US" altLang="en-US" sz="1800" b="0" i="0" u="none" strike="noStrike" cap="none" normalizeH="0" baseline="0" dirty="0">
                <a:ln>
                  <a:noFill/>
                </a:ln>
                <a:solidFill>
                  <a:schemeClr val="tx1"/>
                </a:solidFill>
                <a:effectLst/>
                <a:latin typeface="Arial" panose="020B0604020202020204" pitchFamily="34" charset="0"/>
              </a:rPr>
              <a:t> into </a:t>
            </a:r>
            <a:r>
              <a:rPr kumimoji="0" lang="en-US" altLang="en-US" sz="1800" b="1" i="0" u="none" strike="noStrike" cap="none" normalizeH="0" baseline="0" dirty="0">
                <a:ln>
                  <a:noFill/>
                </a:ln>
                <a:solidFill>
                  <a:schemeClr val="tx1"/>
                </a:solidFill>
                <a:effectLst/>
                <a:latin typeface="Arial" panose="020B0604020202020204" pitchFamily="34" charset="0"/>
              </a:rPr>
              <a:t>six major domains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Ideation and Feedback</a:t>
            </a:r>
            <a:r>
              <a:rPr kumimoji="0" lang="en-US" altLang="en-US" sz="1800" b="0" i="0" u="none" strike="noStrike" cap="none" normalizeH="0" baseline="0" dirty="0">
                <a:ln>
                  <a:noFill/>
                </a:ln>
                <a:solidFill>
                  <a:schemeClr val="tx1"/>
                </a:solidFill>
                <a:effectLst/>
                <a:latin typeface="Arial" panose="020B0604020202020204" pitchFamily="34" charset="0"/>
              </a:rPr>
              <a:t> – brainstorming, refining research questions, identifying limitations.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Writing</a:t>
            </a:r>
            <a:r>
              <a:rPr kumimoji="0" lang="en-US" altLang="en-US" sz="1800" b="0" i="0" u="none" strike="noStrike" cap="none" normalizeH="0" baseline="0" dirty="0">
                <a:ln>
                  <a:noFill/>
                </a:ln>
                <a:solidFill>
                  <a:schemeClr val="tx1"/>
                </a:solidFill>
                <a:effectLst/>
                <a:latin typeface="Arial" panose="020B0604020202020204" pitchFamily="34" charset="0"/>
              </a:rPr>
              <a:t> – drafting, summarizing, editing, and improving style and clarity.</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Background Research</a:t>
            </a:r>
            <a:r>
              <a:rPr kumimoji="0" lang="en-US" altLang="en-US" sz="1800" b="0" i="0" u="none" strike="noStrike" cap="none" normalizeH="0" baseline="0" dirty="0">
                <a:ln>
                  <a:noFill/>
                </a:ln>
                <a:solidFill>
                  <a:schemeClr val="tx1"/>
                </a:solidFill>
                <a:effectLst/>
                <a:latin typeface="Arial" panose="020B0604020202020204" pitchFamily="34" charset="0"/>
              </a:rPr>
              <a:t> – summarizing literature, translating, and formatting references.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Coding</a:t>
            </a:r>
            <a:r>
              <a:rPr kumimoji="0" lang="en-US" altLang="en-US" sz="1800" b="0" i="0" u="none" strike="noStrike" cap="none" normalizeH="0" baseline="0" dirty="0">
                <a:ln>
                  <a:noFill/>
                </a:ln>
                <a:solidFill>
                  <a:schemeClr val="tx1"/>
                </a:solidFill>
                <a:effectLst/>
                <a:latin typeface="Arial" panose="020B0604020202020204" pitchFamily="34" charset="0"/>
              </a:rPr>
              <a:t> – generating, debugging, or translating code across languages (Python, R, MATLAB).</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Arial" panose="020B0604020202020204" pitchFamily="34" charset="0"/>
              </a:rPr>
              <a:t>Data Analysis</a:t>
            </a:r>
            <a:r>
              <a:rPr kumimoji="0" lang="en-US" altLang="en-US" sz="1800" b="0" i="0" u="none" strike="noStrike" cap="none" normalizeH="0" baseline="0" dirty="0">
                <a:ln>
                  <a:noFill/>
                </a:ln>
                <a:solidFill>
                  <a:schemeClr val="tx1"/>
                </a:solidFill>
                <a:effectLst/>
                <a:latin typeface="Arial" panose="020B0604020202020204" pitchFamily="34" charset="0"/>
              </a:rPr>
              <a:t> – extracting and transforming data, classifying text, and creating figures.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1" i="0" u="none" strike="noStrike" cap="none" normalizeH="0" baseline="0" dirty="0">
                <a:ln>
                  <a:noFill/>
                </a:ln>
                <a:solidFill>
                  <a:schemeClr val="tx1"/>
                </a:solidFill>
                <a:effectLst/>
                <a:latin typeface="Arial" panose="020B0604020202020204" pitchFamily="34" charset="0"/>
              </a:rPr>
              <a:t>Mathematical Derivations</a:t>
            </a:r>
            <a:r>
              <a:rPr kumimoji="0" lang="en-US" altLang="en-US" sz="1800" b="0" i="0" u="none" strike="noStrike" cap="none" normalizeH="0" baseline="0" dirty="0">
                <a:ln>
                  <a:noFill/>
                </a:ln>
                <a:solidFill>
                  <a:schemeClr val="tx1"/>
                </a:solidFill>
                <a:effectLst/>
                <a:latin typeface="Arial" panose="020B0604020202020204" pitchFamily="34" charset="0"/>
              </a:rPr>
              <a:t> – explaining or setting up models, checking algebraic steps.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task is evaluated according to </a:t>
            </a:r>
            <a:r>
              <a:rPr kumimoji="0" lang="en-US" altLang="en-US" sz="1800" b="1" i="0" u="none" strike="noStrike" cap="none" normalizeH="0" baseline="0" dirty="0">
                <a:ln>
                  <a:noFill/>
                </a:ln>
                <a:solidFill>
                  <a:schemeClr val="tx1"/>
                </a:solidFill>
                <a:effectLst/>
                <a:latin typeface="Arial" panose="020B0604020202020204" pitchFamily="34" charset="0"/>
              </a:rPr>
              <a:t>usefulness</a:t>
            </a:r>
            <a:r>
              <a:rPr kumimoji="0" lang="en-US" altLang="en-US" sz="1800" b="0" i="0" u="none" strike="noStrike" cap="none" normalizeH="0" baseline="0" dirty="0">
                <a:ln>
                  <a:noFill/>
                </a:ln>
                <a:solidFill>
                  <a:schemeClr val="tx1"/>
                </a:solidFill>
                <a:effectLst/>
                <a:latin typeface="Arial" panose="020B0604020202020204" pitchFamily="34" charset="0"/>
              </a:rPr>
              <a:t>, rated as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1" u="none" strike="noStrike" cap="none" normalizeH="0" baseline="0" dirty="0">
                <a:ln>
                  <a:noFill/>
                </a:ln>
                <a:solidFill>
                  <a:schemeClr val="tx1"/>
                </a:solidFill>
                <a:effectLst/>
                <a:latin typeface="Arial" panose="020B0604020202020204" pitchFamily="34" charset="0"/>
              </a:rPr>
              <a:t>experimental</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1" u="none" strike="noStrike" cap="none" normalizeH="0" baseline="0" dirty="0">
                <a:ln>
                  <a:noFill/>
                </a:ln>
                <a:solidFill>
                  <a:schemeClr val="tx1"/>
                </a:solidFill>
                <a:effectLst/>
                <a:latin typeface="Arial" panose="020B0604020202020204" pitchFamily="34" charset="0"/>
              </a:rPr>
              <a:t>useful with oversight</a:t>
            </a:r>
            <a:r>
              <a:rPr kumimoji="0" lang="en-US" altLang="en-US" sz="1800" b="0" i="0" u="none" strike="noStrike" cap="none" normalizeH="0" baseline="0" dirty="0">
                <a:ln>
                  <a:noFill/>
                </a:ln>
                <a:solidFill>
                  <a:schemeClr val="tx1"/>
                </a:solidFill>
                <a:effectLst/>
                <a:latin typeface="Arial" panose="020B0604020202020204" pitchFamily="34" charset="0"/>
              </a:rPr>
              <a:t>, or ● </a:t>
            </a:r>
            <a:r>
              <a:rPr kumimoji="0" lang="en-US" altLang="en-US" sz="1800" b="0" i="1" u="none" strike="noStrike" cap="none" normalizeH="0" baseline="0" dirty="0">
                <a:ln>
                  <a:noFill/>
                </a:ln>
                <a:solidFill>
                  <a:schemeClr val="tx1"/>
                </a:solidFill>
                <a:effectLst/>
                <a:latin typeface="Arial" panose="020B0604020202020204" pitchFamily="34" charset="0"/>
              </a:rPr>
              <a:t>highly useful</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13772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anim calcmode="lin" valueType="num">
                                      <p:cBhvr additive="base">
                                        <p:cTn id="1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 calcmode="lin" valueType="num">
                                      <p:cBhvr additive="base">
                                        <p:cTn id="1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anim calcmode="lin" valueType="num">
                                      <p:cBhvr additive="base">
                                        <p:cTn id="1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anim calcmode="lin" valueType="num">
                                      <p:cBhvr additive="base">
                                        <p:cTn id="2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anim calcmode="lin" valueType="num">
                                      <p:cBhvr additive="base">
                                        <p:cTn id="2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
                                            <p:txEl>
                                              <p:pRg st="13" end="13"/>
                                            </p:txEl>
                                          </p:spTgt>
                                        </p:tgtEl>
                                        <p:attrNameLst>
                                          <p:attrName>style.visibility</p:attrName>
                                        </p:attrNameLst>
                                      </p:cBhvr>
                                      <p:to>
                                        <p:strVal val="visible"/>
                                      </p:to>
                                    </p:set>
                                    <p:anim calcmode="lin" valueType="num">
                                      <p:cBhvr additive="base">
                                        <p:cTn id="31"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0DD43-0024-4F4E-F08E-4503C592DEF7}"/>
              </a:ext>
            </a:extLst>
          </p:cNvPr>
          <p:cNvSpPr>
            <a:spLocks noGrp="1"/>
          </p:cNvSpPr>
          <p:nvPr>
            <p:ph type="title"/>
          </p:nvPr>
        </p:nvSpPr>
        <p:spPr/>
        <p:txBody>
          <a:bodyPr/>
          <a:lstStyle/>
          <a:p>
            <a:r>
              <a:rPr lang="en-US" dirty="0"/>
              <a:t>Approach:</a:t>
            </a:r>
          </a:p>
        </p:txBody>
      </p:sp>
      <p:sp>
        <p:nvSpPr>
          <p:cNvPr id="4" name="Rectangle 1">
            <a:extLst>
              <a:ext uri="{FF2B5EF4-FFF2-40B4-BE49-F238E27FC236}">
                <a16:creationId xmlns:a16="http://schemas.microsoft.com/office/drawing/2014/main" id="{E3C2E99B-B776-FCAF-A87A-37D2AD35B808}"/>
              </a:ext>
            </a:extLst>
          </p:cNvPr>
          <p:cNvSpPr>
            <a:spLocks noGrp="1" noChangeArrowheads="1"/>
          </p:cNvSpPr>
          <p:nvPr>
            <p:ph idx="1"/>
          </p:nvPr>
        </p:nvSpPr>
        <p:spPr bwMode="auto">
          <a:xfrm>
            <a:off x="971812" y="1490038"/>
            <a:ext cx="800771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2"/>
                </a:solidFill>
                <a:effectLst/>
              </a:rPr>
              <a:t>The article is written as a </a:t>
            </a:r>
            <a:r>
              <a:rPr kumimoji="0" lang="en-US" altLang="en-US" sz="2000" b="1" i="0" u="none" strike="noStrike" cap="none" normalizeH="0" baseline="0" dirty="0">
                <a:ln>
                  <a:noFill/>
                </a:ln>
                <a:solidFill>
                  <a:schemeClr val="tx2"/>
                </a:solidFill>
                <a:effectLst/>
              </a:rPr>
              <a:t>hands-on demonstration</a:t>
            </a:r>
            <a:r>
              <a:rPr kumimoji="0" lang="en-US" altLang="en-US" sz="2000" b="0" i="0" u="none" strike="noStrike" cap="none" normalizeH="0" baseline="0" dirty="0">
                <a:ln>
                  <a:noFill/>
                </a:ln>
                <a:solidFill>
                  <a:schemeClr val="tx2"/>
                </a:solidFill>
                <a:effectLst/>
              </a:rPr>
              <a:t>.</a:t>
            </a:r>
            <a:br>
              <a:rPr kumimoji="0" lang="en-US" altLang="en-US" sz="2000" b="0" i="0" u="none" strike="noStrike" cap="none" normalizeH="0" baseline="0" dirty="0">
                <a:ln>
                  <a:noFill/>
                </a:ln>
                <a:solidFill>
                  <a:schemeClr val="tx2"/>
                </a:solidFill>
                <a:effectLst/>
              </a:rPr>
            </a:br>
            <a:r>
              <a:rPr kumimoji="0" lang="en-US" altLang="en-US" sz="2000" b="0" i="0" u="none" strike="noStrike" cap="none" normalizeH="0" baseline="0" dirty="0">
                <a:ln>
                  <a:noFill/>
                </a:ln>
                <a:solidFill>
                  <a:schemeClr val="tx2"/>
                </a:solidFill>
                <a:effectLst/>
              </a:rPr>
              <a:t>Korinek uses </a:t>
            </a:r>
            <a:r>
              <a:rPr kumimoji="0" lang="en-US" altLang="en-US" sz="2000" b="1" i="0" u="none" strike="noStrike" cap="none" normalizeH="0" baseline="0" dirty="0">
                <a:ln>
                  <a:noFill/>
                </a:ln>
                <a:solidFill>
                  <a:schemeClr val="tx2"/>
                </a:solidFill>
                <a:effectLst/>
              </a:rPr>
              <a:t>live prompts</a:t>
            </a:r>
            <a:r>
              <a:rPr kumimoji="0" lang="en-US" altLang="en-US" sz="2000" b="0" i="0" u="none" strike="noStrike" cap="none" normalizeH="0" baseline="0" dirty="0">
                <a:ln>
                  <a:noFill/>
                </a:ln>
                <a:solidFill>
                  <a:schemeClr val="tx2"/>
                </a:solidFill>
                <a:effectLst/>
              </a:rPr>
              <a:t> and examples—many generated directly through ChatGPT and Claude to illustrate capabilities and common pitfalls.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2"/>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2"/>
                </a:solidFill>
                <a:effectLst/>
              </a:rPr>
              <a:t>It includes a concise </a:t>
            </a:r>
            <a:r>
              <a:rPr kumimoji="0" lang="en-US" altLang="en-US" sz="2000" b="1" i="0" u="none" strike="noStrike" cap="none" normalizeH="0" baseline="0" dirty="0">
                <a:ln>
                  <a:noFill/>
                </a:ln>
                <a:solidFill>
                  <a:schemeClr val="tx2"/>
                </a:solidFill>
                <a:effectLst/>
              </a:rPr>
              <a:t>technical primer</a:t>
            </a:r>
            <a:r>
              <a:rPr kumimoji="0" lang="en-US" altLang="en-US" sz="2000" b="0" i="0" u="none" strike="noStrike" cap="none" normalizeH="0" baseline="0" dirty="0">
                <a:ln>
                  <a:noFill/>
                </a:ln>
                <a:solidFill>
                  <a:schemeClr val="tx2"/>
                </a:solidFill>
                <a:effectLst/>
              </a:rPr>
              <a:t> explaining how LLMs are trained, what </a:t>
            </a:r>
            <a:r>
              <a:rPr kumimoji="0" lang="en-US" altLang="en-US" sz="2000" b="0" i="1" u="none" strike="noStrike" cap="none" normalizeH="0" baseline="0" dirty="0">
                <a:ln>
                  <a:noFill/>
                </a:ln>
                <a:solidFill>
                  <a:schemeClr val="tx2"/>
                </a:solidFill>
                <a:effectLst/>
              </a:rPr>
              <a:t>reinforcement learning from human feedback (RLHF)</a:t>
            </a:r>
            <a:r>
              <a:rPr kumimoji="0" lang="en-US" altLang="en-US" sz="2000" b="0" i="0" u="none" strike="noStrike" cap="none" normalizeH="0" baseline="0" dirty="0">
                <a:ln>
                  <a:noFill/>
                </a:ln>
                <a:solidFill>
                  <a:schemeClr val="tx2"/>
                </a:solidFill>
                <a:effectLst/>
              </a:rPr>
              <a:t> is, and why </a:t>
            </a:r>
            <a:r>
              <a:rPr kumimoji="0" lang="en-US" altLang="en-US" sz="2000" b="1" i="0" u="none" strike="noStrike" cap="none" normalizeH="0" baseline="0" dirty="0">
                <a:ln>
                  <a:noFill/>
                </a:ln>
                <a:solidFill>
                  <a:schemeClr val="tx2"/>
                </a:solidFill>
                <a:effectLst/>
              </a:rPr>
              <a:t>data cutoffs</a:t>
            </a:r>
            <a:r>
              <a:rPr kumimoji="0" lang="en-US" altLang="en-US" sz="2000" b="0" i="0" u="none" strike="noStrike" cap="none" normalizeH="0" baseline="0" dirty="0">
                <a:ln>
                  <a:noFill/>
                </a:ln>
                <a:solidFill>
                  <a:schemeClr val="tx2"/>
                </a:solidFill>
                <a:effectLst/>
              </a:rPr>
              <a:t> (the latest date of the model’s training information) limit their knowledge of recent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2"/>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2"/>
                </a:solidFill>
                <a:effectLst/>
              </a:rPr>
              <a:t>The discussion balances </a:t>
            </a:r>
            <a:r>
              <a:rPr kumimoji="0" lang="en-US" altLang="en-US" sz="2000" b="1" i="0" u="none" strike="noStrike" cap="none" normalizeH="0" baseline="0" dirty="0">
                <a:ln>
                  <a:noFill/>
                </a:ln>
                <a:solidFill>
                  <a:schemeClr val="tx2"/>
                </a:solidFill>
                <a:effectLst/>
              </a:rPr>
              <a:t>optimism and caution</a:t>
            </a:r>
            <a:r>
              <a:rPr kumimoji="0" lang="en-US" altLang="en-US" sz="2000" b="0" i="0" u="none" strike="noStrike" cap="none" normalizeH="0" baseline="0" dirty="0">
                <a:ln>
                  <a:noFill/>
                </a:ln>
                <a:solidFill>
                  <a:schemeClr val="tx2"/>
                </a:solidFill>
                <a:effectLst/>
              </a:rPr>
              <a:t>: while LLMs can dramatically increase research productivity, they also introduce issues of </a:t>
            </a:r>
            <a:r>
              <a:rPr kumimoji="0" lang="en-US" altLang="en-US" sz="2000" b="1" i="0" u="none" strike="noStrike" cap="none" normalizeH="0" baseline="0" dirty="0">
                <a:ln>
                  <a:noFill/>
                </a:ln>
                <a:solidFill>
                  <a:schemeClr val="tx2"/>
                </a:solidFill>
                <a:effectLst/>
              </a:rPr>
              <a:t>bias, hallucination, reproducibility, and data privacy</a:t>
            </a:r>
            <a:r>
              <a:rPr kumimoji="0" lang="en-US" altLang="en-US" sz="2000" b="0" i="0" u="none" strike="noStrike" cap="none" normalizeH="0" baseline="0" dirty="0">
                <a:ln>
                  <a:noFill/>
                </a:ln>
                <a:solidFill>
                  <a:schemeClr val="tx2"/>
                </a:solidFill>
                <a:effectLst/>
              </a:rPr>
              <a:t>.</a:t>
            </a:r>
          </a:p>
        </p:txBody>
      </p:sp>
    </p:spTree>
    <p:extLst>
      <p:ext uri="{BB962C8B-B14F-4D97-AF65-F5344CB8AC3E}">
        <p14:creationId xmlns:p14="http://schemas.microsoft.com/office/powerpoint/2010/main" val="1093955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DFB31-AC83-F860-1128-ABD651ED4372}"/>
              </a:ext>
            </a:extLst>
          </p:cNvPr>
          <p:cNvSpPr>
            <a:spLocks noGrp="1"/>
          </p:cNvSpPr>
          <p:nvPr>
            <p:ph type="title"/>
          </p:nvPr>
        </p:nvSpPr>
        <p:spPr/>
        <p:txBody>
          <a:bodyPr/>
          <a:lstStyle/>
          <a:p>
            <a:r>
              <a:rPr lang="en-US" dirty="0"/>
              <a:t>Main Argument: </a:t>
            </a:r>
          </a:p>
        </p:txBody>
      </p:sp>
      <p:sp>
        <p:nvSpPr>
          <p:cNvPr id="3" name="Content Placeholder 2">
            <a:extLst>
              <a:ext uri="{FF2B5EF4-FFF2-40B4-BE49-F238E27FC236}">
                <a16:creationId xmlns:a16="http://schemas.microsoft.com/office/drawing/2014/main" id="{5A8E7691-86AE-D22F-953D-C5854091164A}"/>
              </a:ext>
            </a:extLst>
          </p:cNvPr>
          <p:cNvSpPr>
            <a:spLocks noGrp="1"/>
          </p:cNvSpPr>
          <p:nvPr>
            <p:ph idx="1"/>
          </p:nvPr>
        </p:nvSpPr>
        <p:spPr>
          <a:xfrm>
            <a:off x="368862" y="1631780"/>
            <a:ext cx="9502251" cy="3854619"/>
          </a:xfrm>
        </p:spPr>
        <p:txBody>
          <a:bodyPr/>
          <a:lstStyle/>
          <a:p>
            <a:pPr algn="just"/>
            <a:r>
              <a:rPr lang="en-US" sz="2000" b="1" dirty="0"/>
              <a:t>Generative AI represents a new “general-purpose cognitive technology.”</a:t>
            </a:r>
            <a:br>
              <a:rPr lang="en-US" sz="2000" dirty="0"/>
            </a:br>
            <a:r>
              <a:rPr lang="en-US" sz="2000" dirty="0"/>
              <a:t>Like the spreadsheet or the search engine, it can transform how economists think, write, and model.</a:t>
            </a:r>
          </a:p>
          <a:p>
            <a:pPr algn="just"/>
            <a:r>
              <a:rPr lang="en-US" sz="2000" dirty="0"/>
              <a:t>However, the paper emphasizes that </a:t>
            </a:r>
            <a:r>
              <a:rPr lang="en-US" sz="2000" b="1" dirty="0"/>
              <a:t>AI should augment, not replace</a:t>
            </a:r>
            <a:r>
              <a:rPr lang="en-US" sz="2000" dirty="0"/>
              <a:t>, the economist’s role. Economists remain essential for formulating research questions, interpreting results, and exercising judgment.</a:t>
            </a:r>
          </a:p>
          <a:p>
            <a:pPr algn="just"/>
            <a:r>
              <a:rPr lang="en-US" sz="2000" dirty="0"/>
              <a:t>In the medium term, AI will likely become a </a:t>
            </a:r>
            <a:r>
              <a:rPr lang="en-US" sz="2000" b="1" dirty="0"/>
              <a:t>co-pilot or tutor</a:t>
            </a:r>
            <a:r>
              <a:rPr lang="en-US" sz="2000" dirty="0"/>
              <a:t> for researchers; in the long term, it may become capable of </a:t>
            </a:r>
            <a:r>
              <a:rPr lang="en-US" sz="2000" b="1" dirty="0"/>
              <a:t>autonomous scientific discovery</a:t>
            </a:r>
            <a:r>
              <a:rPr lang="en-US" sz="2000" dirty="0"/>
              <a:t>, raising profound questions about intellectual credit, creativity, and academic evaluation.</a:t>
            </a:r>
          </a:p>
          <a:p>
            <a:endParaRPr lang="en-US" dirty="0"/>
          </a:p>
        </p:txBody>
      </p:sp>
    </p:spTree>
    <p:extLst>
      <p:ext uri="{BB962C8B-B14F-4D97-AF65-F5344CB8AC3E}">
        <p14:creationId xmlns:p14="http://schemas.microsoft.com/office/powerpoint/2010/main" val="3928296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Isosceles Triangle 2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A4DDADA0-5BA2-5937-458C-5114D27A611F}"/>
              </a:ext>
            </a:extLst>
          </p:cNvPr>
          <p:cNvSpPr>
            <a:spLocks noGrp="1"/>
          </p:cNvSpPr>
          <p:nvPr>
            <p:ph type="title"/>
          </p:nvPr>
        </p:nvSpPr>
        <p:spPr>
          <a:xfrm>
            <a:off x="673754" y="643467"/>
            <a:ext cx="4203045" cy="1375608"/>
          </a:xfrm>
        </p:spPr>
        <p:txBody>
          <a:bodyPr anchor="ctr">
            <a:normAutofit/>
          </a:bodyPr>
          <a:lstStyle/>
          <a:p>
            <a:r>
              <a:rPr lang="en-US">
                <a:solidFill>
                  <a:schemeClr val="bg1"/>
                </a:solidFill>
              </a:rPr>
              <a:t>Results: </a:t>
            </a:r>
          </a:p>
        </p:txBody>
      </p:sp>
      <p:sp>
        <p:nvSpPr>
          <p:cNvPr id="9" name="Content Placeholder 8">
            <a:extLst>
              <a:ext uri="{FF2B5EF4-FFF2-40B4-BE49-F238E27FC236}">
                <a16:creationId xmlns:a16="http://schemas.microsoft.com/office/drawing/2014/main" id="{9E560766-3AAC-93EE-3C1D-0DA1EB97FFA0}"/>
              </a:ext>
            </a:extLst>
          </p:cNvPr>
          <p:cNvSpPr>
            <a:spLocks noGrp="1"/>
          </p:cNvSpPr>
          <p:nvPr>
            <p:ph idx="1"/>
          </p:nvPr>
        </p:nvSpPr>
        <p:spPr>
          <a:xfrm>
            <a:off x="555029" y="1843555"/>
            <a:ext cx="3725968" cy="4072503"/>
          </a:xfrm>
        </p:spPr>
        <p:txBody>
          <a:bodyPr>
            <a:normAutofit fontScale="92500" lnSpcReduction="10000"/>
          </a:bodyPr>
          <a:lstStyle/>
          <a:p>
            <a:r>
              <a:rPr lang="en-US" dirty="0">
                <a:solidFill>
                  <a:schemeClr val="bg1"/>
                </a:solidFill>
              </a:rPr>
              <a:t>A quick snapshot of the </a:t>
            </a:r>
            <a:r>
              <a:rPr lang="en-US" b="1" dirty="0">
                <a:solidFill>
                  <a:schemeClr val="bg1"/>
                </a:solidFill>
              </a:rPr>
              <a:t>main generative AI tools</a:t>
            </a:r>
            <a:r>
              <a:rPr lang="en-US" dirty="0">
                <a:solidFill>
                  <a:schemeClr val="bg1"/>
                </a:solidFill>
              </a:rPr>
              <a:t> they might use for research and how they differ in scope and recency.</a:t>
            </a:r>
          </a:p>
          <a:p>
            <a:r>
              <a:rPr lang="en-US" dirty="0">
                <a:solidFill>
                  <a:schemeClr val="bg1"/>
                </a:solidFill>
              </a:rPr>
              <a:t>The table highlights </a:t>
            </a:r>
            <a:r>
              <a:rPr lang="en-US" b="1" dirty="0">
                <a:solidFill>
                  <a:schemeClr val="bg1"/>
                </a:solidFill>
              </a:rPr>
              <a:t>two main contrasts</a:t>
            </a:r>
            <a:r>
              <a:rPr lang="en-US" dirty="0">
                <a:solidFill>
                  <a:schemeClr val="bg1"/>
                </a:solidFill>
              </a:rPr>
              <a:t>:</a:t>
            </a:r>
          </a:p>
          <a:p>
            <a:pPr marL="0" indent="0">
              <a:buNone/>
            </a:pPr>
            <a:r>
              <a:rPr lang="en-US" b="1" dirty="0">
                <a:solidFill>
                  <a:schemeClr val="bg1"/>
                </a:solidFill>
              </a:rPr>
              <a:t> Context length differences</a:t>
            </a:r>
            <a:r>
              <a:rPr lang="en-US" dirty="0">
                <a:solidFill>
                  <a:schemeClr val="bg1"/>
                </a:solidFill>
              </a:rPr>
              <a:t> (from 2 k to 100 k tokens) → affects how long a text or dataset the model can handle.</a:t>
            </a:r>
          </a:p>
          <a:p>
            <a:pPr marL="0" indent="0">
              <a:buNone/>
            </a:pPr>
            <a:r>
              <a:rPr lang="en-US" b="1" dirty="0">
                <a:solidFill>
                  <a:schemeClr val="bg1"/>
                </a:solidFill>
              </a:rPr>
              <a:t>Knowledge recency</a:t>
            </a:r>
            <a:r>
              <a:rPr lang="en-US" dirty="0">
                <a:solidFill>
                  <a:schemeClr val="bg1"/>
                </a:solidFill>
              </a:rPr>
              <a:t> → some models (ChatGPT 3.5/4) stop at 2021, while others (Bing, Bard) access the web or have 2023 data.</a:t>
            </a:r>
          </a:p>
          <a:p>
            <a:endParaRPr lang="en-US" dirty="0">
              <a:solidFill>
                <a:schemeClr val="bg1"/>
              </a:solidFill>
            </a:endParaRPr>
          </a:p>
        </p:txBody>
      </p:sp>
      <p:pic>
        <p:nvPicPr>
          <p:cNvPr id="5" name="Content Placeholder 4" descr="A table with numbers and numbers&#10;&#10;AI-generated content may be incorrect.">
            <a:extLst>
              <a:ext uri="{FF2B5EF4-FFF2-40B4-BE49-F238E27FC236}">
                <a16:creationId xmlns:a16="http://schemas.microsoft.com/office/drawing/2014/main" id="{2B529279-C586-47B7-FFB8-8EC4C8F3A0CF}"/>
              </a:ext>
            </a:extLst>
          </p:cNvPr>
          <p:cNvPicPr>
            <a:picLocks noChangeAspect="1"/>
          </p:cNvPicPr>
          <p:nvPr/>
        </p:nvPicPr>
        <p:blipFill>
          <a:blip r:embed="rId2"/>
          <a:stretch>
            <a:fillRect/>
          </a:stretch>
        </p:blipFill>
        <p:spPr>
          <a:xfrm>
            <a:off x="6096001" y="2529058"/>
            <a:ext cx="5143500" cy="2549717"/>
          </a:xfrm>
          <a:prstGeom prst="rect">
            <a:avLst/>
          </a:prstGeom>
        </p:spPr>
      </p:pic>
      <p:sp>
        <p:nvSpPr>
          <p:cNvPr id="46" name="Isosceles Triangle 2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485233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40A36-9A43-F2F5-E69C-279E8A9AF4F4}"/>
              </a:ext>
            </a:extLst>
          </p:cNvPr>
          <p:cNvSpPr>
            <a:spLocks noGrp="1"/>
          </p:cNvSpPr>
          <p:nvPr>
            <p:ph type="title"/>
          </p:nvPr>
        </p:nvSpPr>
        <p:spPr/>
        <p:txBody>
          <a:bodyPr/>
          <a:lstStyle/>
          <a:p>
            <a:r>
              <a:rPr lang="en-US" dirty="0"/>
              <a:t>Following:</a:t>
            </a:r>
          </a:p>
        </p:txBody>
      </p:sp>
      <p:sp>
        <p:nvSpPr>
          <p:cNvPr id="3" name="Content Placeholder 2">
            <a:extLst>
              <a:ext uri="{FF2B5EF4-FFF2-40B4-BE49-F238E27FC236}">
                <a16:creationId xmlns:a16="http://schemas.microsoft.com/office/drawing/2014/main" id="{4BF3FA19-545A-9F08-CEA1-969496F9505A}"/>
              </a:ext>
            </a:extLst>
          </p:cNvPr>
          <p:cNvSpPr>
            <a:spLocks noGrp="1"/>
          </p:cNvSpPr>
          <p:nvPr>
            <p:ph idx="1"/>
          </p:nvPr>
        </p:nvSpPr>
        <p:spPr>
          <a:xfrm>
            <a:off x="754452" y="1378391"/>
            <a:ext cx="8596668" cy="3880773"/>
          </a:xfrm>
        </p:spPr>
        <p:txBody>
          <a:bodyPr>
            <a:normAutofit/>
          </a:bodyPr>
          <a:lstStyle/>
          <a:p>
            <a:r>
              <a:rPr lang="en-US" dirty="0"/>
              <a:t>The following prompt illustrates a simple example using GPT-4. Throughout the remainder of this section, The article present all examples generated by LLMs as indented text.</a:t>
            </a:r>
          </a:p>
          <a:p>
            <a:endParaRPr lang="en-US" dirty="0"/>
          </a:p>
        </p:txBody>
      </p:sp>
      <p:pic>
        <p:nvPicPr>
          <p:cNvPr id="5" name="Picture 4" descr="A questionnaire with text&#10;&#10;AI-generated content may be incorrect.">
            <a:extLst>
              <a:ext uri="{FF2B5EF4-FFF2-40B4-BE49-F238E27FC236}">
                <a16:creationId xmlns:a16="http://schemas.microsoft.com/office/drawing/2014/main" id="{4116630E-E52E-1D69-A330-20AFE6622B0E}"/>
              </a:ext>
            </a:extLst>
          </p:cNvPr>
          <p:cNvPicPr>
            <a:picLocks noChangeAspect="1"/>
          </p:cNvPicPr>
          <p:nvPr/>
        </p:nvPicPr>
        <p:blipFill>
          <a:blip r:embed="rId2"/>
          <a:stretch>
            <a:fillRect/>
          </a:stretch>
        </p:blipFill>
        <p:spPr>
          <a:xfrm>
            <a:off x="754452" y="2202094"/>
            <a:ext cx="3871631" cy="4329336"/>
          </a:xfrm>
          <a:prstGeom prst="rect">
            <a:avLst/>
          </a:prstGeom>
        </p:spPr>
      </p:pic>
      <p:pic>
        <p:nvPicPr>
          <p:cNvPr id="7" name="Picture 6" descr="A list of information on a paper&#10;&#10;AI-generated content may be incorrect.">
            <a:extLst>
              <a:ext uri="{FF2B5EF4-FFF2-40B4-BE49-F238E27FC236}">
                <a16:creationId xmlns:a16="http://schemas.microsoft.com/office/drawing/2014/main" id="{A21DC151-58F4-303E-55B3-7D019EF723F7}"/>
              </a:ext>
            </a:extLst>
          </p:cNvPr>
          <p:cNvPicPr>
            <a:picLocks noChangeAspect="1"/>
          </p:cNvPicPr>
          <p:nvPr/>
        </p:nvPicPr>
        <p:blipFill>
          <a:blip r:embed="rId3"/>
          <a:stretch>
            <a:fillRect/>
          </a:stretch>
        </p:blipFill>
        <p:spPr>
          <a:xfrm>
            <a:off x="4470973" y="2147183"/>
            <a:ext cx="4203268" cy="4020914"/>
          </a:xfrm>
          <a:prstGeom prst="rect">
            <a:avLst/>
          </a:prstGeom>
        </p:spPr>
      </p:pic>
      <p:sp>
        <p:nvSpPr>
          <p:cNvPr id="9" name="Rectangle 1">
            <a:extLst>
              <a:ext uri="{FF2B5EF4-FFF2-40B4-BE49-F238E27FC236}">
                <a16:creationId xmlns:a16="http://schemas.microsoft.com/office/drawing/2014/main" id="{DE3A1757-F51B-4CDE-2BCB-B92B7CE54BFD}"/>
              </a:ext>
            </a:extLst>
          </p:cNvPr>
          <p:cNvSpPr>
            <a:spLocks noChangeArrowheads="1"/>
          </p:cNvSpPr>
          <p:nvPr/>
        </p:nvSpPr>
        <p:spPr bwMode="auto">
          <a:xfrm>
            <a:off x="4626084" y="2864978"/>
            <a:ext cx="746431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8" defTabSz="914400"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However, Korinek cautions that such models </a:t>
            </a:r>
            <a:r>
              <a:rPr kumimoji="0" lang="en-US" altLang="en-US" b="1" i="0" u="none" strike="noStrike" cap="none" normalizeH="0" baseline="0" dirty="0">
                <a:ln>
                  <a:noFill/>
                </a:ln>
                <a:solidFill>
                  <a:schemeClr val="tx1"/>
                </a:solidFill>
                <a:effectLst/>
                <a:latin typeface="Arial" panose="020B0604020202020204" pitchFamily="34" charset="0"/>
              </a:rPr>
              <a:t>lack economic reasoning, prioritization, or evidence</a:t>
            </a:r>
            <a:r>
              <a:rPr kumimoji="0" lang="en-US" altLang="en-US" b="0" i="0" u="none" strike="noStrike" cap="none" normalizeH="0" baseline="0" dirty="0">
                <a:ln>
                  <a:noFill/>
                </a:ln>
                <a:solidFill>
                  <a:schemeClr val="tx1"/>
                </a:solidFill>
                <a:effectLst/>
                <a:latin typeface="Arial" panose="020B0604020202020204" pitchFamily="34" charset="0"/>
              </a:rPr>
              <a:t>—they supply </a:t>
            </a:r>
            <a:r>
              <a:rPr kumimoji="0" lang="en-US" altLang="en-US" b="0" i="1" u="none" strike="noStrike" cap="none" normalizeH="0" baseline="0" dirty="0">
                <a:ln>
                  <a:noFill/>
                </a:ln>
                <a:solidFill>
                  <a:schemeClr val="tx1"/>
                </a:solidFill>
                <a:effectLst/>
                <a:latin typeface="Arial" panose="020B0604020202020204" pitchFamily="34" charset="0"/>
              </a:rPr>
              <a:t>breadth</a:t>
            </a:r>
            <a:r>
              <a:rPr kumimoji="0" lang="en-US" altLang="en-US" b="0" i="0" u="none" strike="noStrike" cap="none" normalizeH="0" baseline="0" dirty="0">
                <a:ln>
                  <a:noFill/>
                </a:ln>
                <a:solidFill>
                  <a:schemeClr val="tx1"/>
                </a:solidFill>
                <a:effectLst/>
                <a:latin typeface="Arial" panose="020B0604020202020204" pitchFamily="34" charset="0"/>
              </a:rPr>
              <a:t>, not </a:t>
            </a:r>
            <a:r>
              <a:rPr kumimoji="0" lang="en-US" altLang="en-US" b="0" i="1" u="none" strike="noStrike" cap="none" normalizeH="0" baseline="0" dirty="0">
                <a:ln>
                  <a:noFill/>
                </a:ln>
                <a:solidFill>
                  <a:schemeClr val="tx1"/>
                </a:solidFill>
                <a:effectLst/>
                <a:latin typeface="Arial" panose="020B0604020202020204" pitchFamily="34" charset="0"/>
              </a:rPr>
              <a:t>depth</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output should be treated as </a:t>
            </a:r>
            <a:r>
              <a:rPr kumimoji="0" lang="en-US" altLang="en-US" sz="1800" b="1" i="0" u="none" strike="noStrike" cap="none" normalizeH="0" baseline="0" dirty="0">
                <a:ln>
                  <a:noFill/>
                </a:ln>
                <a:solidFill>
                  <a:schemeClr val="tx1"/>
                </a:solidFill>
                <a:effectLst/>
                <a:latin typeface="Arial" panose="020B0604020202020204" pitchFamily="34" charset="0"/>
              </a:rPr>
              <a:t>a first draft of ideas</a:t>
            </a:r>
            <a:r>
              <a:rPr kumimoji="0" lang="en-US" altLang="en-US" sz="1800" b="0" i="0" u="none" strike="noStrike" cap="none" normalizeH="0" baseline="0" dirty="0">
                <a:ln>
                  <a:noFill/>
                </a:ln>
                <a:solidFill>
                  <a:schemeClr val="tx1"/>
                </a:solidFill>
                <a:effectLst/>
                <a:latin typeface="Arial" panose="020B0604020202020204" pitchFamily="34" charset="0"/>
              </a:rPr>
              <a:t>, to be critically refined by the human economist using domain knowledge.</a:t>
            </a:r>
          </a:p>
        </p:txBody>
      </p:sp>
    </p:spTree>
    <p:extLst>
      <p:ext uri="{BB962C8B-B14F-4D97-AF65-F5344CB8AC3E}">
        <p14:creationId xmlns:p14="http://schemas.microsoft.com/office/powerpoint/2010/main" val="35406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checkerboard(across)">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330EA-1BB6-DA22-02CF-55999CA6252B}"/>
              </a:ext>
            </a:extLst>
          </p:cNvPr>
          <p:cNvSpPr>
            <a:spLocks noGrp="1"/>
          </p:cNvSpPr>
          <p:nvPr>
            <p:ph type="title"/>
          </p:nvPr>
        </p:nvSpPr>
        <p:spPr/>
        <p:txBody>
          <a:bodyPr>
            <a:normAutofit fontScale="90000"/>
          </a:bodyPr>
          <a:lstStyle/>
          <a:p>
            <a:r>
              <a:rPr lang="en-US" dirty="0"/>
              <a:t>As a writing tool: </a:t>
            </a:r>
            <a:br>
              <a:rPr lang="en-US" dirty="0"/>
            </a:br>
            <a:r>
              <a:rPr lang="en-US" dirty="0"/>
              <a:t>synthesize basic text</a:t>
            </a:r>
            <a:br>
              <a:rPr lang="en-US" dirty="0"/>
            </a:br>
            <a:endParaRPr lang="en-US" dirty="0"/>
          </a:p>
        </p:txBody>
      </p:sp>
      <p:pic>
        <p:nvPicPr>
          <p:cNvPr id="5" name="Content Placeholder 4" descr="A close-up of a paper&#10;&#10;AI-generated content may be incorrect.">
            <a:extLst>
              <a:ext uri="{FF2B5EF4-FFF2-40B4-BE49-F238E27FC236}">
                <a16:creationId xmlns:a16="http://schemas.microsoft.com/office/drawing/2014/main" id="{DB1C1CD2-F29D-FC77-0CD5-9F75E8019266}"/>
              </a:ext>
            </a:extLst>
          </p:cNvPr>
          <p:cNvPicPr>
            <a:picLocks noGrp="1" noChangeAspect="1"/>
          </p:cNvPicPr>
          <p:nvPr>
            <p:ph idx="1"/>
          </p:nvPr>
        </p:nvPicPr>
        <p:blipFill>
          <a:blip r:embed="rId2"/>
          <a:stretch>
            <a:fillRect/>
          </a:stretch>
        </p:blipFill>
        <p:spPr>
          <a:xfrm>
            <a:off x="370463" y="1930401"/>
            <a:ext cx="5668135" cy="4318000"/>
          </a:xfrm>
        </p:spPr>
      </p:pic>
      <p:sp>
        <p:nvSpPr>
          <p:cNvPr id="7" name="TextBox 6">
            <a:extLst>
              <a:ext uri="{FF2B5EF4-FFF2-40B4-BE49-F238E27FC236}">
                <a16:creationId xmlns:a16="http://schemas.microsoft.com/office/drawing/2014/main" id="{144D67A7-10CA-F87C-8D0C-A118744A4A0D}"/>
              </a:ext>
            </a:extLst>
          </p:cNvPr>
          <p:cNvSpPr txBox="1"/>
          <p:nvPr/>
        </p:nvSpPr>
        <p:spPr>
          <a:xfrm>
            <a:off x="5838372" y="1930400"/>
            <a:ext cx="5177971" cy="4401205"/>
          </a:xfrm>
          <a:prstGeom prst="rect">
            <a:avLst/>
          </a:prstGeom>
          <a:noFill/>
        </p:spPr>
        <p:txBody>
          <a:bodyPr wrap="square">
            <a:spAutoFit/>
          </a:bodyPr>
          <a:lstStyle/>
          <a:p>
            <a:pPr marL="285750" indent="-285750">
              <a:buFont typeface="Arial" panose="020B0604020202020204" pitchFamily="34" charset="0"/>
              <a:buChar char="•"/>
            </a:pPr>
            <a:r>
              <a:rPr lang="en-US" sz="2000" dirty="0"/>
              <a:t>LLMs can already produce polished academic prose reflecting complex economic reasoning.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Korinek concludes that while these systems currently serve as </a:t>
            </a:r>
            <a:r>
              <a:rPr lang="en-US" sz="2000" b="1" dirty="0"/>
              <a:t>assistants that amplify productivity</a:t>
            </a:r>
            <a:r>
              <a:rPr lang="en-US" sz="2000" dirty="0"/>
              <a:t>,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rapid progress means economists must </a:t>
            </a:r>
            <a:r>
              <a:rPr lang="en-US" sz="2000" b="1" dirty="0"/>
              <a:t>anticipate structural change in their own profession</a:t>
            </a:r>
            <a:r>
              <a:rPr lang="en-US" sz="2000" dirty="0"/>
              <a:t>—by learning, adapting, and guiding the responsible integration of AI into research and society.</a:t>
            </a:r>
          </a:p>
        </p:txBody>
      </p:sp>
    </p:spTree>
    <p:extLst>
      <p:ext uri="{BB962C8B-B14F-4D97-AF65-F5344CB8AC3E}">
        <p14:creationId xmlns:p14="http://schemas.microsoft.com/office/powerpoint/2010/main" val="3842624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E9A83-FE63-66C8-55FC-8796607AE97A}"/>
              </a:ext>
            </a:extLst>
          </p:cNvPr>
          <p:cNvSpPr>
            <a:spLocks noGrp="1"/>
          </p:cNvSpPr>
          <p:nvPr>
            <p:ph type="title"/>
          </p:nvPr>
        </p:nvSpPr>
        <p:spPr/>
        <p:txBody>
          <a:bodyPr/>
          <a:lstStyle/>
          <a:p>
            <a:r>
              <a:rPr lang="en-US" dirty="0"/>
              <a:t>As a background research tool :</a:t>
            </a:r>
            <a:br>
              <a:rPr lang="en-US" dirty="0"/>
            </a:br>
            <a:endParaRPr lang="en-US" dirty="0"/>
          </a:p>
        </p:txBody>
      </p:sp>
      <p:pic>
        <p:nvPicPr>
          <p:cNvPr id="5" name="Content Placeholder 4" descr="A text on a paper&#10;&#10;AI-generated content may be incorrect.">
            <a:extLst>
              <a:ext uri="{FF2B5EF4-FFF2-40B4-BE49-F238E27FC236}">
                <a16:creationId xmlns:a16="http://schemas.microsoft.com/office/drawing/2014/main" id="{D9C09139-D7A6-48F5-A9EE-38922D250A8D}"/>
              </a:ext>
            </a:extLst>
          </p:cNvPr>
          <p:cNvPicPr>
            <a:picLocks noGrp="1" noChangeAspect="1"/>
          </p:cNvPicPr>
          <p:nvPr>
            <p:ph idx="1"/>
          </p:nvPr>
        </p:nvPicPr>
        <p:blipFill>
          <a:blip r:embed="rId2"/>
          <a:stretch>
            <a:fillRect/>
          </a:stretch>
        </p:blipFill>
        <p:spPr>
          <a:xfrm>
            <a:off x="589104" y="1142217"/>
            <a:ext cx="4657788" cy="5596385"/>
          </a:xfrm>
        </p:spPr>
      </p:pic>
      <p:sp>
        <p:nvSpPr>
          <p:cNvPr id="7" name="TextBox 6">
            <a:extLst>
              <a:ext uri="{FF2B5EF4-FFF2-40B4-BE49-F238E27FC236}">
                <a16:creationId xmlns:a16="http://schemas.microsoft.com/office/drawing/2014/main" id="{0907A2D6-95D3-1BC6-717A-753B97BE743D}"/>
              </a:ext>
            </a:extLst>
          </p:cNvPr>
          <p:cNvSpPr txBox="1"/>
          <p:nvPr/>
        </p:nvSpPr>
        <p:spPr>
          <a:xfrm>
            <a:off x="5428982" y="1838408"/>
            <a:ext cx="5296985" cy="2862322"/>
          </a:xfrm>
          <a:prstGeom prst="rect">
            <a:avLst/>
          </a:prstGeom>
          <a:noFill/>
        </p:spPr>
        <p:txBody>
          <a:bodyPr wrap="square">
            <a:spAutoFit/>
          </a:bodyPr>
          <a:lstStyle/>
          <a:p>
            <a:pPr marL="285750" indent="-285750">
              <a:buFont typeface="Wingdings" pitchFamily="2" charset="2"/>
              <a:buChar char="Ø"/>
            </a:pPr>
            <a:r>
              <a:rPr lang="en-US" dirty="0">
                <a:solidFill>
                  <a:srgbClr val="1A1818"/>
                </a:solidFill>
                <a:effectLst/>
                <a:latin typeface="Helvetica" pitchFamily="2" charset="0"/>
              </a:rPr>
              <a:t> the LLM Claude 2 can process texts with up to 100,000 tokens or about 75,000 words at the time of writing, which covers the length of almost all academic papers as well as many books.</a:t>
            </a:r>
          </a:p>
          <a:p>
            <a:pPr marL="285750" indent="-285750">
              <a:buFont typeface="Wingdings" pitchFamily="2" charset="2"/>
              <a:buChar char="Ø"/>
            </a:pPr>
            <a:endParaRPr lang="en-US" dirty="0">
              <a:solidFill>
                <a:srgbClr val="1A1818"/>
              </a:solidFill>
              <a:latin typeface="Helvetica" pitchFamily="2" charset="0"/>
            </a:endParaRPr>
          </a:p>
          <a:p>
            <a:pPr marL="285750" indent="-285750">
              <a:buFont typeface="Wingdings" pitchFamily="2" charset="2"/>
              <a:buChar char="Ø"/>
            </a:pPr>
            <a:r>
              <a:rPr lang="en-US" dirty="0"/>
              <a:t>GPT-3.5/GPT-4 can process only up to 4,000 tokens or about 3,000 words, limiting the ability to produce summaries of longer texts.</a:t>
            </a:r>
          </a:p>
          <a:p>
            <a:pPr>
              <a:buNone/>
            </a:pPr>
            <a:endParaRPr lang="en-US" dirty="0">
              <a:solidFill>
                <a:srgbClr val="1A1818"/>
              </a:solidFill>
              <a:effectLst/>
              <a:latin typeface="Helvetica" pitchFamily="2" charset="0"/>
            </a:endParaRPr>
          </a:p>
        </p:txBody>
      </p:sp>
    </p:spTree>
    <p:extLst>
      <p:ext uri="{BB962C8B-B14F-4D97-AF65-F5344CB8AC3E}">
        <p14:creationId xmlns:p14="http://schemas.microsoft.com/office/powerpoint/2010/main" val="192413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944C0623-5C47-E288-FA1E-6A841862C114}"/>
              </a:ext>
            </a:extLst>
          </p:cNvPr>
          <p:cNvSpPr>
            <a:spLocks noGrp="1"/>
          </p:cNvSpPr>
          <p:nvPr>
            <p:ph type="title"/>
          </p:nvPr>
        </p:nvSpPr>
        <p:spPr>
          <a:xfrm>
            <a:off x="673754" y="643467"/>
            <a:ext cx="4203045" cy="1375608"/>
          </a:xfrm>
        </p:spPr>
        <p:txBody>
          <a:bodyPr anchor="ctr">
            <a:normAutofit/>
          </a:bodyPr>
          <a:lstStyle/>
          <a:p>
            <a:r>
              <a:rPr lang="en-US">
                <a:solidFill>
                  <a:schemeClr val="bg1"/>
                </a:solidFill>
              </a:rPr>
              <a:t>As a coding tutor:</a:t>
            </a:r>
          </a:p>
        </p:txBody>
      </p:sp>
      <p:sp>
        <p:nvSpPr>
          <p:cNvPr id="3" name="Content Placeholder 2">
            <a:extLst>
              <a:ext uri="{FF2B5EF4-FFF2-40B4-BE49-F238E27FC236}">
                <a16:creationId xmlns:a16="http://schemas.microsoft.com/office/drawing/2014/main" id="{A0A42D03-0A7B-F680-96E9-F00B984170AE}"/>
              </a:ext>
            </a:extLst>
          </p:cNvPr>
          <p:cNvSpPr>
            <a:spLocks noGrp="1"/>
          </p:cNvSpPr>
          <p:nvPr>
            <p:ph idx="1"/>
          </p:nvPr>
        </p:nvSpPr>
        <p:spPr>
          <a:xfrm>
            <a:off x="673754" y="2160590"/>
            <a:ext cx="3973943" cy="3440110"/>
          </a:xfrm>
        </p:spPr>
        <p:txBody>
          <a:bodyPr>
            <a:normAutofit/>
          </a:bodyPr>
          <a:lstStyle/>
          <a:p>
            <a:pPr>
              <a:lnSpc>
                <a:spcPct val="90000"/>
              </a:lnSpc>
            </a:pPr>
            <a:r>
              <a:rPr lang="en-US" sz="1700">
                <a:solidFill>
                  <a:schemeClr val="bg1"/>
                </a:solidFill>
              </a:rPr>
              <a:t>LLMs can write, edit, modify, translate or debug snippets of code based on instructions in plain English (or other natural languages). </a:t>
            </a:r>
          </a:p>
          <a:p>
            <a:pPr>
              <a:lnSpc>
                <a:spcPct val="90000"/>
              </a:lnSpc>
            </a:pPr>
            <a:r>
              <a:rPr lang="en-US" sz="1700">
                <a:solidFill>
                  <a:schemeClr val="bg1"/>
                </a:solidFill>
              </a:rPr>
              <a:t>Moreover, they can act as tutors when using new libraries, functions, or even programming languages that the user is not very familiar with by quickly generating output that shows what libraries and functions are needed for specific types of operations. </a:t>
            </a:r>
          </a:p>
        </p:txBody>
      </p:sp>
      <p:pic>
        <p:nvPicPr>
          <p:cNvPr id="5" name="Picture 4" descr="A close-up of a text&#10;&#10;AI-generated content may be incorrect.">
            <a:extLst>
              <a:ext uri="{FF2B5EF4-FFF2-40B4-BE49-F238E27FC236}">
                <a16:creationId xmlns:a16="http://schemas.microsoft.com/office/drawing/2014/main" id="{11C6E325-4775-8B64-DA51-F64C1AB8C993}"/>
              </a:ext>
            </a:extLst>
          </p:cNvPr>
          <p:cNvPicPr>
            <a:picLocks noChangeAspect="1"/>
          </p:cNvPicPr>
          <p:nvPr/>
        </p:nvPicPr>
        <p:blipFill>
          <a:blip r:embed="rId2"/>
          <a:stretch>
            <a:fillRect/>
          </a:stretch>
        </p:blipFill>
        <p:spPr>
          <a:xfrm>
            <a:off x="6408311" y="129906"/>
            <a:ext cx="3859936" cy="6598182"/>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510614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BE42-16FD-ACFE-368C-4B5A45C36B49}"/>
              </a:ext>
            </a:extLst>
          </p:cNvPr>
          <p:cNvSpPr>
            <a:spLocks noGrp="1"/>
          </p:cNvSpPr>
          <p:nvPr>
            <p:ph type="title"/>
          </p:nvPr>
        </p:nvSpPr>
        <p:spPr>
          <a:xfrm>
            <a:off x="937481" y="217714"/>
            <a:ext cx="7570155" cy="1320800"/>
          </a:xfrm>
        </p:spPr>
        <p:txBody>
          <a:bodyPr>
            <a:normAutofit/>
          </a:bodyPr>
          <a:lstStyle/>
          <a:p>
            <a:r>
              <a:rPr lang="en-US" dirty="0"/>
              <a:t>Translate and debugging code:</a:t>
            </a:r>
          </a:p>
        </p:txBody>
      </p:sp>
      <p:pic>
        <p:nvPicPr>
          <p:cNvPr id="9" name="Content Placeholder 8" descr="A screenshot of a cell phone&#10;&#10;AI-generated content may be incorrect.">
            <a:extLst>
              <a:ext uri="{FF2B5EF4-FFF2-40B4-BE49-F238E27FC236}">
                <a16:creationId xmlns:a16="http://schemas.microsoft.com/office/drawing/2014/main" id="{21DDBEB9-0F7B-A757-8C13-D70ECE99BBE9}"/>
              </a:ext>
            </a:extLst>
          </p:cNvPr>
          <p:cNvPicPr>
            <a:picLocks noGrp="1" noChangeAspect="1"/>
          </p:cNvPicPr>
          <p:nvPr>
            <p:ph idx="1"/>
          </p:nvPr>
        </p:nvPicPr>
        <p:blipFill>
          <a:blip r:embed="rId2"/>
          <a:stretch>
            <a:fillRect/>
          </a:stretch>
        </p:blipFill>
        <p:spPr>
          <a:xfrm>
            <a:off x="656244" y="1238841"/>
            <a:ext cx="4457479" cy="5095808"/>
          </a:xfrm>
        </p:spPr>
      </p:pic>
      <p:sp>
        <p:nvSpPr>
          <p:cNvPr id="17" name="Isosceles Triangle 16">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2" name="Picture 11" descr="A screenshot of a computer program&#10;&#10;AI-generated content may be incorrect.">
            <a:extLst>
              <a:ext uri="{FF2B5EF4-FFF2-40B4-BE49-F238E27FC236}">
                <a16:creationId xmlns:a16="http://schemas.microsoft.com/office/drawing/2014/main" id="{EF4CE31C-B0CD-A260-AB8F-BC2B104BFBBE}"/>
              </a:ext>
            </a:extLst>
          </p:cNvPr>
          <p:cNvPicPr>
            <a:picLocks noChangeAspect="1"/>
          </p:cNvPicPr>
          <p:nvPr/>
        </p:nvPicPr>
        <p:blipFill>
          <a:blip r:embed="rId3"/>
          <a:stretch>
            <a:fillRect/>
          </a:stretch>
        </p:blipFill>
        <p:spPr>
          <a:xfrm>
            <a:off x="7876505" y="881096"/>
            <a:ext cx="4170598" cy="5095807"/>
          </a:xfrm>
          <a:prstGeom prst="rect">
            <a:avLst/>
          </a:prstGeom>
        </p:spPr>
      </p:pic>
      <p:sp>
        <p:nvSpPr>
          <p:cNvPr id="14" name="TextBox 13">
            <a:extLst>
              <a:ext uri="{FF2B5EF4-FFF2-40B4-BE49-F238E27FC236}">
                <a16:creationId xmlns:a16="http://schemas.microsoft.com/office/drawing/2014/main" id="{33B67CC4-1B5B-FBB6-E691-36B49AEE7189}"/>
              </a:ext>
            </a:extLst>
          </p:cNvPr>
          <p:cNvSpPr txBox="1"/>
          <p:nvPr/>
        </p:nvSpPr>
        <p:spPr>
          <a:xfrm>
            <a:off x="5233011" y="2366921"/>
            <a:ext cx="2524206" cy="2585323"/>
          </a:xfrm>
          <a:prstGeom prst="rect">
            <a:avLst/>
          </a:prstGeom>
          <a:noFill/>
        </p:spPr>
        <p:txBody>
          <a:bodyPr wrap="square" rtlCol="0">
            <a:spAutoFit/>
          </a:bodyPr>
          <a:lstStyle/>
          <a:p>
            <a:r>
              <a:rPr lang="en-US" b="1" dirty="0"/>
              <a:t>However, they are less ­capable at detecting high-level mistakes in the algorithms underlying code—for this,</a:t>
            </a:r>
          </a:p>
          <a:p>
            <a:r>
              <a:rPr lang="en-US" b="1" dirty="0"/>
              <a:t>human debugging is usually still required.</a:t>
            </a:r>
          </a:p>
          <a:p>
            <a:endParaRPr lang="en-US" dirty="0"/>
          </a:p>
        </p:txBody>
      </p:sp>
    </p:spTree>
    <p:extLst>
      <p:ext uri="{BB962C8B-B14F-4D97-AF65-F5344CB8AC3E}">
        <p14:creationId xmlns:p14="http://schemas.microsoft.com/office/powerpoint/2010/main" val="2530607927"/>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3BDF-CC66-0716-D262-A8CC13EC0B01}"/>
              </a:ext>
            </a:extLst>
          </p:cNvPr>
          <p:cNvSpPr>
            <a:spLocks noGrp="1"/>
          </p:cNvSpPr>
          <p:nvPr>
            <p:ph type="title"/>
          </p:nvPr>
        </p:nvSpPr>
        <p:spPr/>
        <p:txBody>
          <a:bodyPr/>
          <a:lstStyle/>
          <a:p>
            <a:r>
              <a:rPr lang="en-US" dirty="0"/>
              <a:t>As data analysis tool: </a:t>
            </a:r>
          </a:p>
        </p:txBody>
      </p:sp>
      <p:pic>
        <p:nvPicPr>
          <p:cNvPr id="5" name="Content Placeholder 4" descr="A screenshot of a computer screen&#10;&#10;AI-generated content may be incorrect.">
            <a:extLst>
              <a:ext uri="{FF2B5EF4-FFF2-40B4-BE49-F238E27FC236}">
                <a16:creationId xmlns:a16="http://schemas.microsoft.com/office/drawing/2014/main" id="{408EB837-01B0-B4FD-12D2-6C2AE76441F9}"/>
              </a:ext>
            </a:extLst>
          </p:cNvPr>
          <p:cNvPicPr>
            <a:picLocks noGrp="1" noChangeAspect="1"/>
          </p:cNvPicPr>
          <p:nvPr>
            <p:ph idx="1"/>
          </p:nvPr>
        </p:nvPicPr>
        <p:blipFill>
          <a:blip r:embed="rId2"/>
          <a:stretch>
            <a:fillRect/>
          </a:stretch>
        </p:blipFill>
        <p:spPr>
          <a:xfrm>
            <a:off x="5765286" y="724458"/>
            <a:ext cx="4438257" cy="5523942"/>
          </a:xfrm>
        </p:spPr>
      </p:pic>
      <p:pic>
        <p:nvPicPr>
          <p:cNvPr id="7" name="Picture 6" descr="A screenshot of a text&#10;&#10;AI-generated content may be incorrect.">
            <a:extLst>
              <a:ext uri="{FF2B5EF4-FFF2-40B4-BE49-F238E27FC236}">
                <a16:creationId xmlns:a16="http://schemas.microsoft.com/office/drawing/2014/main" id="{8C953685-D15B-66F9-A472-827CC2EC874D}"/>
              </a:ext>
            </a:extLst>
          </p:cNvPr>
          <p:cNvPicPr>
            <a:picLocks noChangeAspect="1"/>
          </p:cNvPicPr>
          <p:nvPr/>
        </p:nvPicPr>
        <p:blipFill>
          <a:blip r:embed="rId3"/>
          <a:stretch>
            <a:fillRect/>
          </a:stretch>
        </p:blipFill>
        <p:spPr>
          <a:xfrm>
            <a:off x="602858" y="1219200"/>
            <a:ext cx="4651313" cy="5390753"/>
          </a:xfrm>
          <a:prstGeom prst="rect">
            <a:avLst/>
          </a:prstGeom>
        </p:spPr>
      </p:pic>
    </p:spTree>
    <p:extLst>
      <p:ext uri="{BB962C8B-B14F-4D97-AF65-F5344CB8AC3E}">
        <p14:creationId xmlns:p14="http://schemas.microsoft.com/office/powerpoint/2010/main" val="306418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7A51C-DB84-A489-C9A4-AF5AF4728A95}"/>
              </a:ext>
            </a:extLst>
          </p:cNvPr>
          <p:cNvSpPr>
            <a:spLocks noGrp="1"/>
          </p:cNvSpPr>
          <p:nvPr>
            <p:ph type="title"/>
          </p:nvPr>
        </p:nvSpPr>
        <p:spPr/>
        <p:txBody>
          <a:bodyPr/>
          <a:lstStyle/>
          <a:p>
            <a:r>
              <a:rPr lang="en-US" dirty="0"/>
              <a:t>Useful VS Not Useful  </a:t>
            </a:r>
          </a:p>
        </p:txBody>
      </p:sp>
      <p:pic>
        <p:nvPicPr>
          <p:cNvPr id="13" name="Content Placeholder 12" descr="A paper with text on it&#10;&#10;AI-generated content may be incorrect.">
            <a:extLst>
              <a:ext uri="{FF2B5EF4-FFF2-40B4-BE49-F238E27FC236}">
                <a16:creationId xmlns:a16="http://schemas.microsoft.com/office/drawing/2014/main" id="{3F2FE361-D2C7-69F0-447E-49A64FD44680}"/>
              </a:ext>
            </a:extLst>
          </p:cNvPr>
          <p:cNvPicPr>
            <a:picLocks noGrp="1" noChangeAspect="1"/>
          </p:cNvPicPr>
          <p:nvPr>
            <p:ph idx="1"/>
          </p:nvPr>
        </p:nvPicPr>
        <p:blipFill>
          <a:blip r:embed="rId2"/>
          <a:stretch>
            <a:fillRect/>
          </a:stretch>
        </p:blipFill>
        <p:spPr>
          <a:xfrm>
            <a:off x="5848363" y="473733"/>
            <a:ext cx="5211522" cy="5910534"/>
          </a:xfrm>
        </p:spPr>
      </p:pic>
      <p:sp>
        <p:nvSpPr>
          <p:cNvPr id="15" name="TextBox 14">
            <a:extLst>
              <a:ext uri="{FF2B5EF4-FFF2-40B4-BE49-F238E27FC236}">
                <a16:creationId xmlns:a16="http://schemas.microsoft.com/office/drawing/2014/main" id="{A2EB773D-990F-F789-AE31-F3CBE1D3B9C2}"/>
              </a:ext>
            </a:extLst>
          </p:cNvPr>
          <p:cNvSpPr txBox="1"/>
          <p:nvPr/>
        </p:nvSpPr>
        <p:spPr>
          <a:xfrm>
            <a:off x="566612" y="1720841"/>
            <a:ext cx="4338875" cy="2308324"/>
          </a:xfrm>
          <a:prstGeom prst="rect">
            <a:avLst/>
          </a:prstGeom>
          <a:noFill/>
        </p:spPr>
        <p:txBody>
          <a:bodyPr wrap="square">
            <a:spAutoFit/>
          </a:bodyPr>
          <a:lstStyle/>
          <a:p>
            <a:pPr>
              <a:buFont typeface="Arial" panose="020B0604020202020204" pitchFamily="34" charset="0"/>
              <a:buChar char="•"/>
            </a:pPr>
            <a:r>
              <a:rPr lang="en-US" dirty="0"/>
              <a:t>The author finds that </a:t>
            </a:r>
            <a:r>
              <a:rPr lang="en-US" b="1" dirty="0"/>
              <a:t>writing-related tasks</a:t>
            </a:r>
            <a:r>
              <a:rPr lang="en-US" dirty="0"/>
              <a:t>—such as synthesizing text, editing, evaluating, creating titles, and generating tweets—are rated </a:t>
            </a:r>
            <a:r>
              <a:rPr lang="en-US" b="1" dirty="0"/>
              <a:t>highly useful)</a:t>
            </a:r>
            <a:r>
              <a:rPr lang="en-US" dirty="0"/>
              <a:t>.</a:t>
            </a:r>
          </a:p>
          <a:p>
            <a:r>
              <a:rPr lang="en-US" dirty="0"/>
              <a:t>Similarly, </a:t>
            </a:r>
            <a:r>
              <a:rPr lang="en-US" b="1" dirty="0"/>
              <a:t>brainstorming and idea generation</a:t>
            </a:r>
            <a:r>
              <a:rPr lang="en-US" dirty="0"/>
              <a:t> are also </a:t>
            </a:r>
            <a:r>
              <a:rPr lang="en-US" b="1" dirty="0"/>
              <a:t>highly effective</a:t>
            </a:r>
            <a:r>
              <a:rPr lang="en-US" dirty="0"/>
              <a:t>.</a:t>
            </a:r>
          </a:p>
          <a:p>
            <a:endParaRPr lang="en-US" dirty="0"/>
          </a:p>
        </p:txBody>
      </p:sp>
      <p:sp>
        <p:nvSpPr>
          <p:cNvPr id="16" name="Rectangle 1">
            <a:extLst>
              <a:ext uri="{FF2B5EF4-FFF2-40B4-BE49-F238E27FC236}">
                <a16:creationId xmlns:a16="http://schemas.microsoft.com/office/drawing/2014/main" id="{04CE198C-4E0C-3A1C-8FF3-7DBFB70565E5}"/>
              </a:ext>
            </a:extLst>
          </p:cNvPr>
          <p:cNvSpPr>
            <a:spLocks noChangeArrowheads="1"/>
          </p:cNvSpPr>
          <p:nvPr/>
        </p:nvSpPr>
        <p:spPr bwMode="auto">
          <a:xfrm>
            <a:off x="566612" y="3911938"/>
            <a:ext cx="415245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Translating code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reformatting data</a:t>
            </a:r>
            <a:r>
              <a:rPr kumimoji="0" lang="en-US" altLang="en-US" sz="1800" b="0" i="0" u="none" strike="noStrike" cap="none" normalizeH="0" baseline="0" dirty="0">
                <a:ln>
                  <a:noFill/>
                </a:ln>
                <a:solidFill>
                  <a:schemeClr val="tx1"/>
                </a:solidFill>
                <a:effectLst/>
                <a:latin typeface="Arial" panose="020B0604020202020204" pitchFamily="34" charset="0"/>
              </a:rPr>
              <a:t> receive </a:t>
            </a:r>
            <a:r>
              <a:rPr kumimoji="0" lang="en-US" altLang="en-US" sz="1800" b="1" i="0" u="none" strike="noStrike" cap="none" normalizeH="0" baseline="0" dirty="0">
                <a:ln>
                  <a:noFill/>
                </a:ln>
                <a:solidFill>
                  <a:schemeClr val="tx1"/>
                </a:solidFill>
                <a:effectLst/>
                <a:latin typeface="Arial" panose="020B0604020202020204" pitchFamily="34" charset="0"/>
              </a:rPr>
              <a:t>highly useful </a:t>
            </a:r>
            <a:r>
              <a:rPr kumimoji="0" lang="en-US" altLang="en-US" sz="1800" b="0" i="0" u="none" strike="noStrike" cap="none" normalizeH="0" baseline="0" dirty="0" err="1">
                <a:ln>
                  <a:noFill/>
                </a:ln>
                <a:solidFill>
                  <a:schemeClr val="tx1"/>
                </a:solidFill>
                <a:effectLst/>
                <a:latin typeface="Arial" panose="020B0604020202020204" pitchFamily="34" charset="0"/>
              </a:rPr>
              <a:t>rating:indicating</a:t>
            </a:r>
            <a:r>
              <a:rPr kumimoji="0" lang="en-US" altLang="en-US" sz="1800" b="0" i="0" u="none" strike="noStrike" cap="none" normalizeH="0" baseline="0" dirty="0">
                <a:ln>
                  <a:noFill/>
                </a:ln>
                <a:solidFill>
                  <a:schemeClr val="tx1"/>
                </a:solidFill>
                <a:effectLst/>
                <a:latin typeface="Arial" panose="020B0604020202020204" pitchFamily="34" charset="0"/>
              </a:rPr>
              <a:t> strong reliability for technical assistance.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But </a:t>
            </a:r>
            <a:r>
              <a:rPr kumimoji="0" lang="en-US" altLang="en-US" sz="1800" b="1" i="0" u="none" strike="noStrike" cap="none" normalizeH="0" baseline="0" dirty="0">
                <a:ln>
                  <a:noFill/>
                </a:ln>
                <a:solidFill>
                  <a:schemeClr val="tx1"/>
                </a:solidFill>
                <a:effectLst/>
                <a:latin typeface="Arial" panose="020B0604020202020204" pitchFamily="34" charset="0"/>
              </a:rPr>
              <a:t>writing code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explaining code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debugging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creating figures</a:t>
            </a:r>
            <a:r>
              <a:rPr kumimoji="0" lang="en-US" altLang="en-US" sz="1800" b="0" i="0" u="none" strike="noStrike" cap="none" normalizeH="0" baseline="0" dirty="0">
                <a:ln>
                  <a:noFill/>
                </a:ln>
                <a:solidFill>
                  <a:schemeClr val="tx1"/>
                </a:solidFill>
                <a:effectLst/>
                <a:latin typeface="Arial" panose="020B0604020202020204" pitchFamily="34" charset="0"/>
              </a:rPr>
              <a:t> are </a:t>
            </a:r>
            <a:r>
              <a:rPr kumimoji="0" lang="en-US" altLang="en-US" sz="1800" b="1" i="0" u="none" strike="noStrike" cap="none" normalizeH="0" baseline="0" dirty="0">
                <a:ln>
                  <a:noFill/>
                </a:ln>
                <a:solidFill>
                  <a:schemeClr val="tx1"/>
                </a:solidFill>
                <a:effectLst/>
                <a:latin typeface="Arial" panose="020B0604020202020204" pitchFamily="34" charset="0"/>
              </a:rPr>
              <a:t>◐ (useful with oversight)</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121627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F7183-1C29-07DB-0095-B3957AFD0481}"/>
              </a:ext>
            </a:extLst>
          </p:cNvPr>
          <p:cNvSpPr>
            <a:spLocks noGrp="1"/>
          </p:cNvSpPr>
          <p:nvPr>
            <p:ph type="title"/>
          </p:nvPr>
        </p:nvSpPr>
        <p:spPr/>
        <p:txBody>
          <a:bodyPr/>
          <a:lstStyle/>
          <a:p>
            <a:r>
              <a:rPr lang="en-US" dirty="0"/>
              <a:t>Conclusion:</a:t>
            </a:r>
          </a:p>
        </p:txBody>
      </p:sp>
      <p:sp>
        <p:nvSpPr>
          <p:cNvPr id="4" name="Rectangle 1">
            <a:extLst>
              <a:ext uri="{FF2B5EF4-FFF2-40B4-BE49-F238E27FC236}">
                <a16:creationId xmlns:a16="http://schemas.microsoft.com/office/drawing/2014/main" id="{CC5B627E-1200-FC11-8D85-8F3613DD6AE9}"/>
              </a:ext>
            </a:extLst>
          </p:cNvPr>
          <p:cNvSpPr>
            <a:spLocks noGrp="1" noChangeArrowheads="1"/>
          </p:cNvSpPr>
          <p:nvPr>
            <p:ph idx="1"/>
          </p:nvPr>
        </p:nvSpPr>
        <p:spPr bwMode="auto">
          <a:xfrm>
            <a:off x="677333" y="1408499"/>
            <a:ext cx="947788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Generative AI marks a new era in economic research: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Large language models (LLMs) like ChatGPT can now perform many </a:t>
            </a:r>
            <a:r>
              <a:rPr kumimoji="0" lang="en-US" altLang="en-US" sz="1800" b="0" i="1" u="none" strike="noStrike" cap="none" normalizeH="0" baseline="0" dirty="0">
                <a:ln>
                  <a:noFill/>
                </a:ln>
                <a:solidFill>
                  <a:schemeClr val="tx1"/>
                </a:solidFill>
                <a:effectLst/>
                <a:latin typeface="Arial" panose="020B0604020202020204" pitchFamily="34" charset="0"/>
              </a:rPr>
              <a:t>cognitive micro-tasks</a:t>
            </a:r>
            <a:r>
              <a:rPr kumimoji="0" lang="en-US" altLang="en-US" sz="1800" b="0" i="0" u="none" strike="noStrike" cap="none" normalizeH="0" baseline="0" dirty="0">
                <a:ln>
                  <a:noFill/>
                </a:ln>
                <a:solidFill>
                  <a:schemeClr val="tx1"/>
                </a:solidFill>
                <a:effectLst/>
                <a:latin typeface="Arial" panose="020B0604020202020204" pitchFamily="34" charset="0"/>
              </a:rPr>
              <a:t>—drafting, editing, coding, summarizing—that dramatically boost productivity.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Writing and ideation tasks are already highly reliable.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As shown in </a:t>
            </a:r>
            <a:r>
              <a:rPr kumimoji="0" lang="en-US" altLang="en-US" sz="1800" b="0" i="1" u="none" strike="noStrike" cap="none" normalizeH="0" baseline="0" dirty="0">
                <a:ln>
                  <a:noFill/>
                </a:ln>
                <a:solidFill>
                  <a:schemeClr val="tx1"/>
                </a:solidFill>
                <a:effectLst/>
                <a:latin typeface="Arial" panose="020B0604020202020204" pitchFamily="34" charset="0"/>
              </a:rPr>
              <a:t>Table 2</a:t>
            </a:r>
            <a:r>
              <a:rPr kumimoji="0" lang="en-US" altLang="en-US" sz="1800" b="0" i="0" u="none" strike="noStrike" cap="none" normalizeH="0" baseline="0" dirty="0">
                <a:ln>
                  <a:noFill/>
                </a:ln>
                <a:solidFill>
                  <a:schemeClr val="tx1"/>
                </a:solidFill>
                <a:effectLst/>
                <a:latin typeface="Arial" panose="020B0604020202020204" pitchFamily="34" charset="0"/>
              </a:rPr>
              <a:t>, LLMs are most effective for </a:t>
            </a:r>
            <a:r>
              <a:rPr kumimoji="0" lang="en-US" altLang="en-US" sz="1800" b="1" i="0" u="none" strike="noStrike" cap="none" normalizeH="0" baseline="0" dirty="0">
                <a:ln>
                  <a:noFill/>
                </a:ln>
                <a:solidFill>
                  <a:schemeClr val="tx1"/>
                </a:solidFill>
                <a:effectLst/>
                <a:latin typeface="Arial" panose="020B0604020202020204" pitchFamily="34" charset="0"/>
              </a:rPr>
              <a:t>writing, summarizing, and creative brainstorming</a:t>
            </a:r>
            <a:r>
              <a:rPr kumimoji="0" lang="en-US" altLang="en-US" sz="1800" b="0" i="0" u="none" strike="noStrike" cap="none" normalizeH="0" baseline="0" dirty="0">
                <a:ln>
                  <a:noFill/>
                </a:ln>
                <a:solidFill>
                  <a:schemeClr val="tx1"/>
                </a:solidFill>
                <a:effectLst/>
                <a:latin typeface="Arial" panose="020B0604020202020204" pitchFamily="34" charset="0"/>
              </a:rPr>
              <a:t>, while more technical tasks still require human check.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Human expertise remains essential.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Economists must </a:t>
            </a:r>
            <a:r>
              <a:rPr kumimoji="0" lang="en-US" altLang="en-US" sz="1800" b="1" i="0" u="none" strike="noStrike" cap="none" normalizeH="0" baseline="0" dirty="0">
                <a:ln>
                  <a:noFill/>
                </a:ln>
                <a:solidFill>
                  <a:schemeClr val="tx1"/>
                </a:solidFill>
                <a:effectLst/>
                <a:latin typeface="Arial" panose="020B0604020202020204" pitchFamily="34" charset="0"/>
              </a:rPr>
              <a:t>verify outputs</a:t>
            </a:r>
            <a:r>
              <a:rPr kumimoji="0" lang="en-US" altLang="en-US" sz="1800" b="0" i="0" u="none" strike="noStrike" cap="none" normalizeH="0" baseline="0" dirty="0">
                <a:ln>
                  <a:noFill/>
                </a:ln>
                <a:solidFill>
                  <a:schemeClr val="tx1"/>
                </a:solidFill>
                <a:effectLst/>
                <a:latin typeface="Arial" panose="020B0604020202020204" pitchFamily="34" charset="0"/>
              </a:rPr>
              <a:t>, watch for </a:t>
            </a:r>
            <a:r>
              <a:rPr kumimoji="0" lang="en-US" altLang="en-US" sz="1800" b="1" i="0" u="none" strike="noStrike" cap="none" normalizeH="0" baseline="0" dirty="0">
                <a:ln>
                  <a:noFill/>
                </a:ln>
                <a:solidFill>
                  <a:schemeClr val="tx1"/>
                </a:solidFill>
                <a:effectLst/>
                <a:latin typeface="Arial" panose="020B0604020202020204" pitchFamily="34" charset="0"/>
              </a:rPr>
              <a:t>hallucinations and bias</a:t>
            </a:r>
            <a:r>
              <a:rPr kumimoji="0" lang="en-US" altLang="en-US" sz="1800" b="0" i="0" u="none" strike="noStrike" cap="none" normalizeH="0" baseline="0" dirty="0">
                <a:ln>
                  <a:noFill/>
                </a:ln>
                <a:solidFill>
                  <a:schemeClr val="tx1"/>
                </a:solidFill>
                <a:effectLst/>
                <a:latin typeface="Arial" panose="020B0604020202020204" pitchFamily="34" charset="0"/>
              </a:rPr>
              <a:t>, and understand </a:t>
            </a:r>
            <a:r>
              <a:rPr kumimoji="0" lang="en-US" altLang="en-US" sz="1800" b="1" i="0" u="none" strike="noStrike" cap="none" normalizeH="0" baseline="0" dirty="0">
                <a:ln>
                  <a:noFill/>
                </a:ln>
                <a:solidFill>
                  <a:schemeClr val="tx1"/>
                </a:solidFill>
                <a:effectLst/>
                <a:latin typeface="Arial" panose="020B0604020202020204" pitchFamily="34" charset="0"/>
              </a:rPr>
              <a:t>data cutoffs</a:t>
            </a:r>
            <a:r>
              <a:rPr kumimoji="0" lang="en-US" altLang="en-US" sz="1800" b="0" i="0" u="none" strike="noStrike" cap="none" normalizeH="0" baseline="0" dirty="0">
                <a:ln>
                  <a:noFill/>
                </a:ln>
                <a:solidFill>
                  <a:schemeClr val="tx1"/>
                </a:solidFill>
                <a:effectLst/>
                <a:latin typeface="Arial" panose="020B0604020202020204" pitchFamily="34" charset="0"/>
              </a:rPr>
              <a:t> and other model limits.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accent5"/>
                </a:solidFill>
                <a:effectLst/>
                <a:latin typeface="Arial" panose="020B0604020202020204" pitchFamily="34" charset="0"/>
              </a:rPr>
              <a:t>Again, LLMs should serve as </a:t>
            </a:r>
            <a:r>
              <a:rPr kumimoji="0" lang="en-US" altLang="en-US" sz="1800" b="1" i="0" u="none" strike="noStrike" cap="none" normalizeH="0" baseline="0" dirty="0">
                <a:ln>
                  <a:noFill/>
                </a:ln>
                <a:solidFill>
                  <a:schemeClr val="accent5"/>
                </a:solidFill>
                <a:effectLst/>
                <a:latin typeface="Arial" panose="020B0604020202020204" pitchFamily="34" charset="0"/>
              </a:rPr>
              <a:t>co-pilots</a:t>
            </a:r>
            <a:r>
              <a:rPr kumimoji="0" lang="en-US" altLang="en-US" sz="1800" b="0" i="0" u="none" strike="noStrike" cap="none" normalizeH="0" baseline="0" dirty="0">
                <a:ln>
                  <a:noFill/>
                </a:ln>
                <a:solidFill>
                  <a:schemeClr val="accent5"/>
                </a:solidFill>
                <a:effectLst/>
                <a:latin typeface="Arial" panose="020B0604020202020204" pitchFamily="34" charset="0"/>
              </a:rPr>
              <a:t>, not replacements.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accent5"/>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will reshape how economists work.</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 the near term, these tools will become routine assistants for research, teaching, and communication. In the longer run, they may transform </a:t>
            </a:r>
            <a:r>
              <a:rPr kumimoji="0" lang="en-US" altLang="en-US" sz="1800" b="1" i="0" u="none" strike="noStrike" cap="none" normalizeH="0" baseline="0" dirty="0">
                <a:ln>
                  <a:noFill/>
                </a:ln>
                <a:solidFill>
                  <a:schemeClr val="tx1"/>
                </a:solidFill>
                <a:effectLst/>
                <a:latin typeface="Arial" panose="020B0604020202020204" pitchFamily="34" charset="0"/>
              </a:rPr>
              <a:t>knowledge creation and the economics profession itself.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9020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054FA4-C7EF-AE2D-6FBF-1E51FE0C2F40}"/>
              </a:ext>
            </a:extLst>
          </p:cNvPr>
          <p:cNvSpPr>
            <a:spLocks noGrp="1"/>
          </p:cNvSpPr>
          <p:nvPr>
            <p:ph idx="1"/>
          </p:nvPr>
        </p:nvSpPr>
        <p:spPr>
          <a:xfrm>
            <a:off x="1892948" y="1644222"/>
            <a:ext cx="7337113" cy="3390357"/>
          </a:xfrm>
        </p:spPr>
        <p:txBody>
          <a:bodyPr/>
          <a:lstStyle/>
          <a:p>
            <a:pPr marL="0" indent="0">
              <a:buNone/>
            </a:pPr>
            <a:r>
              <a:rPr lang="en-US" b="1" dirty="0">
                <a:solidFill>
                  <a:schemeClr val="tx1"/>
                </a:solidFill>
              </a:rPr>
              <a:t>“Use generative AI thoughtfully—embrace its potential to enhance creativity and efficiency, but pair it with critical judgment, transparency, and ethical responsibility.”  </a:t>
            </a:r>
          </a:p>
          <a:p>
            <a:pPr marL="0" indent="0">
              <a:buNone/>
            </a:pPr>
            <a:r>
              <a:rPr lang="en-US" b="1" dirty="0">
                <a:solidFill>
                  <a:schemeClr val="tx1"/>
                </a:solidFill>
              </a:rPr>
              <a:t>                                                          -------Anton Korinek</a:t>
            </a:r>
          </a:p>
        </p:txBody>
      </p:sp>
    </p:spTree>
    <p:extLst>
      <p:ext uri="{BB962C8B-B14F-4D97-AF65-F5344CB8AC3E}">
        <p14:creationId xmlns:p14="http://schemas.microsoft.com/office/powerpoint/2010/main" val="341440166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294</TotalTime>
  <Words>1157</Words>
  <Application>Microsoft Macintosh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Helvetica</vt:lpstr>
      <vt:lpstr>Trebuchet MS</vt:lpstr>
      <vt:lpstr>Wingdings</vt:lpstr>
      <vt:lpstr>Wingdings 3</vt:lpstr>
      <vt:lpstr>Facet</vt:lpstr>
      <vt:lpstr>Generative AI for Economic Research: Use Cases and Implications for Economists </vt:lpstr>
      <vt:lpstr>Introduction: </vt:lpstr>
      <vt:lpstr>Motivation &amp; Scope</vt:lpstr>
      <vt:lpstr>Approach:</vt:lpstr>
      <vt:lpstr>Main Argument: </vt:lpstr>
      <vt:lpstr>Results: </vt:lpstr>
      <vt:lpstr>Following:</vt:lpstr>
      <vt:lpstr>As a writing tool:  synthesize basic text </vt:lpstr>
      <vt:lpstr>As a background research tool : </vt:lpstr>
      <vt:lpstr>As a coding tutor:</vt:lpstr>
      <vt:lpstr>Translate and debugging code:</vt:lpstr>
      <vt:lpstr>As data analysis tool: </vt:lpstr>
      <vt:lpstr>Useful VS Not Useful  </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haining Yuan</dc:creator>
  <cp:lastModifiedBy>haining Yuan</cp:lastModifiedBy>
  <cp:revision>3</cp:revision>
  <dcterms:created xsi:type="dcterms:W3CDTF">2025-10-04T17:18:05Z</dcterms:created>
  <dcterms:modified xsi:type="dcterms:W3CDTF">2025-10-04T22:12:57Z</dcterms:modified>
</cp:coreProperties>
</file>